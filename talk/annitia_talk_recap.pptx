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harts/chart1.xml" ContentType="application/vnd.openxmlformats-officedocument.drawingml.chart+xml"/>
  <Override PartName="/ppt/slides/slide5.xml" ContentType="application/vnd.openxmlformats-officedocument.presentationml.slide+xml"/>
  <Override PartName="/ppt/charts/chart2.xml" ContentType="application/vnd.openxmlformats-officedocument.drawingml.chart+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5.xml" ContentType="application/vnd.openxmlformats-officedocument.drawingml.chart+xml"/>
  <Override PartName="/ppt/slides/slide12.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harts/chart8.xml" ContentType="application/vnd.openxmlformats-officedocument.drawingml.chart+xml"/>
  <Override PartName="/ppt/slides/slide16.xml" ContentType="application/vnd.openxmlformats-officedocument.presentationml.slide+xml"/>
  <Override PartName="/ppt/charts/chart9.xml" ContentType="application/vnd.openxmlformats-officedocument.drawingml.chart+xml"/>
  <Override PartName="/ppt/slides/slide17.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s/slide18.xml" ContentType="application/vnd.openxmlformats-officedocument.presentationml.slide+xml"/>
  <Override PartName="/ppt/charts/chart12.xml" ContentType="application/vnd.openxmlformats-officedocument.drawingml.chart+xml"/>
  <Override PartName="/ppt/slides/slide19.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harts/chart15.xml" ContentType="application/vnd.openxmlformats-officedocument.drawingml.chart+xml"/>
  <Override PartName="/ppt/slides/slide23.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s/slide24.xml" ContentType="application/vnd.openxmlformats-officedocument.presentationml.slide+xml"/>
  <Override PartName="/ppt/slides/slide25.xml" ContentType="application/vnd.openxmlformats-officedocument.presentationml.slide+xml"/>
  <Override PartName="/ppt/charts/chart18.xml" ContentType="application/vnd.openxmlformats-officedocument.drawingml.chart+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a3f206-a316-30da-2e58-31ac63b857c9}">
          <p14:sldIdLst>
            <p14:sldId id="256"/>
            <p14:sldId id="257"/>
            <p14:sldId id="258"/>
            <p14:sldId id="259"/>
          </p14:sldIdLst>
        </p14:section>
        <p14:section name="Part 1 · An LLM can help, if its mistakes differ" id="{cb3443fc-3b50-a30c-e101-639ce139d644}">
          <p14:sldIdLst>
            <p14:sldId id="260"/>
            <p14:sldId id="261"/>
            <p14:sldId id="262"/>
            <p14:sldId id="263"/>
            <p14:sldId id="264"/>
            <p14:sldId id="265"/>
            <p14:sldId id="266"/>
            <p14:sldId id="267"/>
            <p14:sldId id="268"/>
            <p14:sldId id="269"/>
          </p14:sldIdLst>
        </p14:section>
        <p14:section name="Part 2 · Three tests show our gain was not real" id="{848f1858-345e-0935-d6eb-7de1df712b59}">
          <p14:sldIdLst>
            <p14:sldId id="270"/>
            <p14:sldId id="271"/>
            <p14:sldId id="272"/>
            <p14:sldId id="273"/>
            <p14:sldId id="274"/>
            <p14:sldId id="275"/>
            <p14:sldId id="276"/>
          </p14:sldIdLst>
        </p14:section>
        <p14:section name="Part 3 · You can run the same checks yourself" id="{41ea086f-e6d5-a8bf-23a2-957c5694ed60}">
          <p14:sldIdLst>
            <p14:sldId id="277"/>
            <p14:sldId id="278"/>
            <p14:sldId id="279"/>
          </p14:sldIdLst>
        </p14:section>
        <p14:section name="Backup" id="{32a53e96-bff2-80f3-67c1-b0a013a39d60}">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Model alone</c:v>
                </c:pt>
              </c:strCache>
            </c:strRef>
          </c:tx>
          <c:spPr>
            <a:solidFill>
              <a:srgbClr val="0072B2"/>
            </a:solidFill>
            <a:effectLst/>
          </c:spPr>
          <c:invertIfNegative val="0"/>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Sheet1!$A$2:$A$9</c:f>
              <c:multiLvlStrCache>
                <c:ptCount val="8"/>
                <c:lvl>
                  <c:pt idx="0">
                    <c:v>Final two-stage blend</c:v>
                  </c:pt>
                  <c:pt idx="1">
                    <c:v>EfficientNet base + GPT-OSS LLM, weight 0.07</c:v>
                  </c:pt>
                  <c:pt idx="2">
                    <c:v>GPT-OSS 120B LLM (alone)</c:v>
                  </c:pt>
                  <c:pt idx="3">
                    <c:v>Base + EfficientNet-B0, weight 0.02</c:v>
                  </c:pt>
                  <c:pt idx="4">
                    <c:v>EfficientNet-B0 (alone)</c:v>
                  </c:pt>
                  <c:pt idx="5">
                    <c:v>Base + Haiku LLM, weight 0.05</c:v>
                  </c:pt>
                  <c:pt idx="6">
                    <c:v>Claude Haiku LLM (alone)</c:v>
                  </c:pt>
                  <c:pt idx="7">
                    <c:v>Tabular base (alone)</c:v>
                  </c:pt>
                </c:lvl>
              </c:multiLvlStrCache>
            </c:multiLvlStrRef>
          </c:cat>
          <c:val>
            <c:numRef>
              <c:f>Sheet1!$B$2:$B$9</c:f>
              <c:numCache>
                <c:formatCode>General</c:formatCode>
                <c:ptCount val="8"/>
                <c:pt idx="0">
                  <c:v>0</c:v>
                </c:pt>
                <c:pt idx="1">
                  <c:v>0</c:v>
                </c:pt>
                <c:pt idx="2">
                  <c:v>0.79186</c:v>
                </c:pt>
                <c:pt idx="3">
                  <c:v>0</c:v>
                </c:pt>
                <c:pt idx="4">
                  <c:v>0.84426</c:v>
                </c:pt>
                <c:pt idx="5">
                  <c:v>0</c:v>
                </c:pt>
                <c:pt idx="6">
                  <c:v>0.75275</c:v>
                </c:pt>
                <c:pt idx="7">
                  <c:v>0.89379</c:v>
                </c:pt>
              </c:numCache>
            </c:numRef>
          </c:val>
        </c:ser>
        <c:ser>
          <c:idx val="1"/>
          <c:order val="1"/>
          <c:tx>
            <c:strRef>
              <c:f>Sheet1!$C$1</c:f>
              <c:strCache>
                <c:ptCount val="1"/>
                <c:pt idx="0">
                  <c:v>Blend</c:v>
                </c:pt>
              </c:strCache>
            </c:strRef>
          </c:tx>
          <c:spPr>
            <a:solidFill>
              <a:srgbClr val="D55E00"/>
            </a:solidFill>
            <a:effectLst/>
          </c:spPr>
          <c:invertIfNegative val="0"/>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Sheet1!$A$2:$A$9</c:f>
              <c:multiLvlStrCache>
                <c:ptCount val="8"/>
                <c:lvl>
                  <c:pt idx="0">
                    <c:v>Final two-stage blend</c:v>
                  </c:pt>
                  <c:pt idx="1">
                    <c:v>EfficientNet base + GPT-OSS LLM, weight 0.07</c:v>
                  </c:pt>
                  <c:pt idx="2">
                    <c:v>GPT-OSS 120B LLM (alone)</c:v>
                  </c:pt>
                  <c:pt idx="3">
                    <c:v>Base + EfficientNet-B0, weight 0.02</c:v>
                  </c:pt>
                  <c:pt idx="4">
                    <c:v>EfficientNet-B0 (alone)</c:v>
                  </c:pt>
                  <c:pt idx="5">
                    <c:v>Base + Haiku LLM, weight 0.05</c:v>
                  </c:pt>
                  <c:pt idx="6">
                    <c:v>Claude Haiku LLM (alone)</c:v>
                  </c:pt>
                  <c:pt idx="7">
                    <c:v>Tabular base (alone)</c:v>
                  </c:pt>
                </c:lvl>
              </c:multiLvlStrCache>
            </c:multiLvlStrRef>
          </c:cat>
          <c:val>
            <c:numRef>
              <c:f>Sheet1!$C$2:$C$9</c:f>
              <c:numCache>
                <c:formatCode>General</c:formatCode>
                <c:ptCount val="8"/>
                <c:pt idx="0">
                  <c:v>0.90364</c:v>
                </c:pt>
                <c:pt idx="1">
                  <c:v>0.90223</c:v>
                </c:pt>
                <c:pt idx="2">
                  <c:v>0</c:v>
                </c:pt>
                <c:pt idx="3">
                  <c:v>0.89665</c:v>
                </c:pt>
                <c:pt idx="4">
                  <c:v>0</c:v>
                </c:pt>
                <c:pt idx="5">
                  <c:v>0.89834</c:v>
                </c:pt>
                <c:pt idx="6">
                  <c:v>0</c:v>
                </c:pt>
                <c:pt idx="7">
                  <c:v>0</c:v>
                </c:pt>
              </c:numCache>
            </c:numRef>
          </c:val>
        </c:ser>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weighted C-index (0.5 = random order)</a:t>
                </a:r>
              </a:p>
            </c:rich>
          </c:tx>
          <c:layout/>
          <c:overlay val="0"/>
        </c:title>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4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C-index</c:v>
                </c:pt>
              </c:strCache>
            </c:strRef>
          </c:tx>
          <c:spPr>
            <a:solidFill>
              <a:srgbClr val="0072B2"/>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0072B2"/>
              </a:solidFill>
              <a:effectLst/>
            </c:spPr>
          </c:dPt>
          <c:dPt>
            <c:idx val="2"/>
            <c:invertIfNegative val="0"/>
            <c:bubble3D val="0"/>
            <c:spPr>
              <a:solidFill>
                <a:srgbClr val="D55E00"/>
              </a:solidFill>
              <a:effectLst/>
            </c:spPr>
          </c:dPt>
          <c:dPt>
            <c:idx val="3"/>
            <c:invertIfNegative val="0"/>
            <c:bubble3D val="0"/>
            <c:spPr>
              <a:solidFill>
                <a:srgbClr val="0072B2"/>
              </a:solidFill>
              <a:effectLst/>
            </c:spPr>
          </c:dPt>
          <c:cat>
            <c:multiLvlStrRef>
              <c:f>Sheet1!$A$2:$A$5</c:f>
              <c:multiLvlStrCache>
                <c:ptCount val="4"/>
                <c:lvl>
                  <c:pt idx="0">
                    <c:v>Tabular score</c:v>
                  </c:pt>
                  <c:pt idx="1">
                    <c:v>Same score, exponentiated</c:v>
                  </c:pt>
                  <c:pt idx="2">
                    <c:v>Raw 50/50 average</c:v>
                  </c:pt>
                  <c:pt idx="3">
                    <c:v>Rank 50/50 average</c:v>
                  </c:pt>
                </c:lvl>
              </c:multiLvlStrCache>
            </c:multiLvlStrRef>
          </c:cat>
          <c:val>
            <c:numRef>
              <c:f>Sheet1!$B$2:$B$5</c:f>
              <c:numCache>
                <c:formatCode>General</c:formatCode>
                <c:ptCount val="4"/>
                <c:pt idx="0">
                  <c:v>0.7926</c:v>
                </c:pt>
                <c:pt idx="1">
                  <c:v>0.7926</c:v>
                </c:pt>
                <c:pt idx="2">
                  <c:v>0.7606</c:v>
                </c:pt>
                <c:pt idx="3">
                  <c:v>0.7884</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C-index (0.5 = random order)</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Fewer visits where follow-up ends at the event</a:t>
            </a:r>
          </a:p>
        </c:rich>
      </c:tx>
      <c:layout/>
      <c:overlay val="0"/>
    </c:title>
    <c:autoTitleDeleted val="0"/>
    <c:plotArea>
      <c:layout/>
      <c:barChart>
        <c:barDir val="col"/>
        <c:grouping val="stacked"/>
        <c:varyColors val="0"/>
        <c:ser>
          <c:idx val="0"/>
          <c:order val="0"/>
          <c:tx>
            <c:strRef>
              <c:f>Sheet1!$B$1</c:f>
              <c:strCache>
                <c:ptCount val="1"/>
                <c:pt idx="0">
                  <c:v>No event</c:v>
                </c:pt>
              </c:strCache>
            </c:strRef>
          </c:tx>
          <c:spPr>
            <a:solidFill>
              <a:srgbClr val="0072B2"/>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Sheet1!$B$2:$B$19</c:f>
              <c:numCache>
                <c:formatCode>General</c:formatCode>
                <c:ptCount val="18"/>
                <c:pt idx="0">
                  <c:v>9</c:v>
                </c:pt>
                <c:pt idx="1">
                  <c:v>23</c:v>
                </c:pt>
                <c:pt idx="2">
                  <c:v>34</c:v>
                </c:pt>
                <c:pt idx="3">
                  <c:v>123</c:v>
                </c:pt>
                <c:pt idx="4">
                  <c:v>157</c:v>
                </c:pt>
                <c:pt idx="5">
                  <c:v>172</c:v>
                </c:pt>
                <c:pt idx="6">
                  <c:v>150</c:v>
                </c:pt>
                <c:pt idx="7">
                  <c:v>157</c:v>
                </c:pt>
                <c:pt idx="8">
                  <c:v>120</c:v>
                </c:pt>
                <c:pt idx="9">
                  <c:v>125</c:v>
                </c:pt>
                <c:pt idx="10">
                  <c:v>103</c:v>
                </c:pt>
                <c:pt idx="11">
                  <c:v>106</c:v>
                </c:pt>
                <c:pt idx="12">
                  <c:v>73</c:v>
                </c:pt>
                <c:pt idx="13">
                  <c:v>69</c:v>
                </c:pt>
                <c:pt idx="14">
                  <c:v>56</c:v>
                </c:pt>
                <c:pt idx="15">
                  <c:v>40</c:v>
                </c:pt>
                <c:pt idx="16">
                  <c:v>16</c:v>
                </c:pt>
                <c:pt idx="17">
                  <c:v>5</c:v>
                </c:pt>
              </c:numCache>
            </c:numRef>
          </c:val>
        </c:ser>
        <c:ser>
          <c:idx val="1"/>
          <c:order val="1"/>
          <c:tx>
            <c:strRef>
              <c:f>Sheet1!$C$1</c:f>
              <c:strCache>
                <c:ptCount val="1"/>
                <c:pt idx="0">
                  <c:v>Hepatic event</c:v>
                </c:pt>
              </c:strCache>
            </c:strRef>
          </c:tx>
          <c:spPr>
            <a:solidFill>
              <a:srgbClr val="D55E00"/>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Sheet1!$C$2:$C$19</c:f>
              <c:numCache>
                <c:formatCode>General</c:formatCode>
                <c:ptCount val="18"/>
                <c:pt idx="0">
                  <c:v>42</c:v>
                </c:pt>
                <c:pt idx="1">
                  <c:v>49</c:v>
                </c:pt>
                <c:pt idx="2">
                  <c:v>62</c:v>
                </c:pt>
                <c:pt idx="3">
                  <c:v>54</c:v>
                </c:pt>
                <c:pt idx="4">
                  <c:v>49</c:v>
                </c:pt>
                <c:pt idx="5">
                  <c:v>62</c:v>
                </c:pt>
                <c:pt idx="6">
                  <c:v>33</c:v>
                </c:pt>
                <c:pt idx="7">
                  <c:v>28</c:v>
                </c:pt>
                <c:pt idx="8">
                  <c:v>24</c:v>
                </c:pt>
                <c:pt idx="9">
                  <c:v>18</c:v>
                </c:pt>
                <c:pt idx="10">
                  <c:v>16</c:v>
                </c:pt>
                <c:pt idx="11">
                  <c:v>12</c:v>
                </c:pt>
                <c:pt idx="12">
                  <c:v>7</c:v>
                </c:pt>
                <c:pt idx="13">
                  <c:v>5</c:v>
                </c:pt>
                <c:pt idx="14">
                  <c:v>0</c:v>
                </c:pt>
                <c:pt idx="15">
                  <c:v>1</c:v>
                </c:pt>
                <c:pt idx="16">
                  <c:v>0</c:v>
                </c:pt>
                <c:pt idx="17">
                  <c:v>0</c:v>
                </c:pt>
              </c:numCache>
            </c:numRef>
          </c:val>
        </c:ser>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visits recorded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3E9"/>
              </a:solidFill>
              <a:prstDash val="solid"/>
              <a:round/>
            </a:ln>
          </c:spPr>
        </c:majorGridlines>
        <c:title>
          <c:tx>
            <c:rich>
              <a:bodyPr/>
              <a:lstStyle/>
              <a:p>
                <a:pPr>
                  <a:defRPr sz="1400" b="0" i="0" u="none" strike="noStrike">
                    <a:solidFill>
                      <a:srgbClr val="6B7785"/>
                    </a:solidFill>
                    <a:latin typeface="+mn-lt"/>
                  </a:defRPr>
                </a:pPr>
                <a:r>
                  <a:rPr sz="1400" b="0" i="0" u="none" strike="noStrike">
                    <a:solidFill>
                      <a:srgbClr val="6B7785"/>
                    </a:solidFill>
                    <a:latin typeface="+mn-lt"/>
                  </a:rPr>
                  <a:t>patients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4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Above the true risk: reading the answer</a:t>
            </a:r>
          </a:p>
        </c:rich>
      </c:tx>
      <c:layout/>
      <c:overlay val="0"/>
    </c:title>
    <c:autoTitleDeleted val="0"/>
    <c:plotArea>
      <c:layout/>
      <c:barChart>
        <c:barDir val="col"/>
        <c:grouping val="clustered"/>
        <c:varyColors val="0"/>
        <c:ser>
          <c:idx val="0"/>
          <c:order val="0"/>
          <c:tx>
            <c:strRef>
              <c:f>Sheet1!$B$1</c:f>
              <c:strCache>
                <c:ptCount val="1"/>
                <c:pt idx="0">
                  <c:v>Hepatic C-index</c:v>
                </c:pt>
              </c:strCache>
            </c:strRef>
          </c:tx>
          <c:spPr>
            <a:solidFill>
              <a:srgbClr val="0072B2"/>
            </a:solidFill>
            <a:effectLst/>
          </c:spPr>
          <c:invertIfNegative val="0"/>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6B7785"/>
              </a:solidFill>
              <a:effectLst/>
            </c:spPr>
          </c:dPt>
          <c:dPt>
            <c:idx val="2"/>
            <c:invertIfNegative val="0"/>
            <c:bubble3D val="0"/>
            <c:spPr>
              <a:solidFill>
                <a:srgbClr val="D55E00"/>
              </a:solidFill>
              <a:effectLst/>
            </c:spPr>
          </c:dPt>
          <c:cat>
            <c:multiLvlStrRef>
              <c:f>Sheet1!$A$2:$A$4</c:f>
              <c:multiLvlStrCache>
                <c:ptCount val="3"/>
                <c:lvl>
                  <c:pt idx="0">
                    <c:v>Baseline visit</c:v>
                  </c:pt>
                  <c:pt idx="1">
                    <c:v>True risk</c:v>
                  </c:pt>
                  <c:pt idx="2">
                    <c:v>Whole window</c:v>
                  </c:pt>
                </c:lvl>
              </c:multiLvlStrCache>
            </c:multiLvlStrRef>
          </c:cat>
          <c:val>
            <c:numRef>
              <c:f>Sheet1!$B$2:$B$4</c:f>
              <c:numCache>
                <c:formatCode>General</c:formatCode>
                <c:ptCount val="3"/>
                <c:pt idx="0">
                  <c:v>0.798</c:v>
                </c:pt>
                <c:pt idx="1">
                  <c:v>0.825</c:v>
                </c:pt>
                <c:pt idx="2">
                  <c:v>0.92</c:v>
                </c:pt>
              </c:numCache>
            </c:numRef>
          </c:val>
        </c:ser>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what the score uses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hepatic C-index (0.5 = random order)</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Error correlation 0.0</c:v>
                </c:pt>
              </c:strCache>
            </c:strRef>
          </c:tx>
          <c:spPr>
            <a:solidFill>
              <a:srgbClr val="0072B2"/>
            </a:solidFill>
            <a:ln w="38100" cap="flat">
              <a:solidFill>
                <a:srgbClr val="0072B2"/>
              </a:solidFill>
              <a:prstDash val="solid"/>
              <a:round/>
            </a:ln>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0072B2"/>
              </a:solidFill>
              <a:ln w="9525" cap="flat">
                <a:solidFill>
                  <a:srgbClr val="0072B2"/>
                </a:solidFill>
                <a:prstDash val="solid"/>
                <a:round/>
              </a:ln>
              <a:effectLst/>
            </c:spPr>
          </c:marker>
          <c:cat>
            <c:multiLvlStrRef>
              <c:f>Sheet1!$A$2:$A$22</c:f>
              <c:multiLvlStrCache>
                <c:ptCount val="21"/>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lvl>
              </c:multiLvlStrCache>
            </c:multiLvlStrRef>
          </c:cat>
          <c:val>
            <c:numRef>
              <c:f>Sheet1!$B$2:$B$22</c:f>
              <c:numCache>
                <c:formatCode>General</c:formatCode>
                <c:ptCount val="21"/>
                <c:pt idx="0">
                  <c:v>0.7952796089594726</c:v>
                </c:pt>
                <c:pt idx="1">
                  <c:v>0.7969815154693235</c:v>
                </c:pt>
                <c:pt idx="2">
                  <c:v>0.7982261467775364</c:v>
                </c:pt>
                <c:pt idx="3">
                  <c:v>0.799176592503808</c:v>
                </c:pt>
                <c:pt idx="4">
                  <c:v>0.7998601643069393</c:v>
                </c:pt>
                <c:pt idx="5">
                  <c:v>0.8001129922341249</c:v>
                </c:pt>
                <c:pt idx="6">
                  <c:v>0.8001676155517268</c:v>
                </c:pt>
                <c:pt idx="7">
                  <c:v>0.7996354283716633</c:v>
                </c:pt>
                <c:pt idx="8">
                  <c:v>0.7987864259495093</c:v>
                </c:pt>
                <c:pt idx="9">
                  <c:v>0.7975269683122331</c:v>
                </c:pt>
                <c:pt idx="10">
                  <c:v>0.7961293917147352</c:v>
                </c:pt>
                <c:pt idx="11">
                  <c:v>0.7942909269108798</c:v>
                </c:pt>
                <c:pt idx="12">
                  <c:v>0.7919889442405174</c:v>
                </c:pt>
                <c:pt idx="13">
                  <c:v>0.7891727220515894</c:v>
                </c:pt>
                <c:pt idx="14">
                  <c:v>0.786265981222064</c:v>
                </c:pt>
                <c:pt idx="15">
                  <c:v>0.783172740779584</c:v>
                </c:pt>
                <c:pt idx="16">
                  <c:v>0.7795886708117962</c:v>
                </c:pt>
                <c:pt idx="17">
                  <c:v>0.7759164232027368</c:v>
                </c:pt>
                <c:pt idx="18">
                  <c:v>0.7723378155667091</c:v>
                </c:pt>
                <c:pt idx="19">
                  <c:v>0.7698126576272879</c:v>
                </c:pt>
                <c:pt idx="20">
                  <c:v>0.7620740941893276</c:v>
                </c:pt>
              </c:numCache>
            </c:numRef>
          </c:val>
          <c:smooth val="0"/>
        </c:ser>
        <c:ser>
          <c:idx val="1"/>
          <c:order val="1"/>
          <c:tx>
            <c:strRef>
              <c:f>Sheet1!$C$1</c:f>
              <c:strCache>
                <c:ptCount val="1"/>
                <c:pt idx="0">
                  <c:v>Error correlation 0.3</c:v>
                </c:pt>
              </c:strCache>
            </c:strRef>
          </c:tx>
          <c:spPr>
            <a:solidFill>
              <a:srgbClr val="56B4E9"/>
            </a:solidFill>
            <a:ln w="38100" cap="flat">
              <a:solidFill>
                <a:srgbClr val="56B4E9"/>
              </a:solidFill>
              <a:prstDash val="solid"/>
              <a:round/>
            </a:ln>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56B4E9"/>
              </a:solidFill>
              <a:ln w="9525" cap="flat">
                <a:solidFill>
                  <a:srgbClr val="56B4E9"/>
                </a:solidFill>
                <a:prstDash val="solid"/>
                <a:round/>
              </a:ln>
              <a:effectLst/>
            </c:spPr>
          </c:marker>
          <c:cat>
            <c:multiLvlStrRef>
              <c:f>Sheet1!$A$2:$A$22</c:f>
              <c:multiLvlStrCache>
                <c:ptCount val="21"/>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lvl>
              </c:multiLvlStrCache>
            </c:multiLvlStrRef>
          </c:cat>
          <c:val>
            <c:numRef>
              <c:f>Sheet1!$C$2:$C$22</c:f>
              <c:numCache>
                <c:formatCode>General</c:formatCode>
                <c:ptCount val="21"/>
                <c:pt idx="0">
                  <c:v>0.7952796089594726</c:v>
                </c:pt>
                <c:pt idx="1">
                  <c:v>0.7959709840936899</c:v>
                </c:pt>
                <c:pt idx="2">
                  <c:v>0.796372075311509</c:v>
                </c:pt>
                <c:pt idx="3">
                  <c:v>0.7964126526331561</c:v>
                </c:pt>
                <c:pt idx="4">
                  <c:v>0.79631589132769</c:v>
                </c:pt>
                <c:pt idx="5">
                  <c:v>0.7960185844133143</c:v>
                </c:pt>
                <c:pt idx="6">
                  <c:v>0.7951422703323595</c:v>
                </c:pt>
                <c:pt idx="7">
                  <c:v>0.7942714185831647</c:v>
                </c:pt>
                <c:pt idx="8">
                  <c:v>0.7934021275001872</c:v>
                </c:pt>
                <c:pt idx="9">
                  <c:v>0.7918079069593228</c:v>
                </c:pt>
                <c:pt idx="10">
                  <c:v>0.790010799810223</c:v>
                </c:pt>
                <c:pt idx="11">
                  <c:v>0.787847716433191</c:v>
                </c:pt>
                <c:pt idx="12">
                  <c:v>0.7856268884061228</c:v>
                </c:pt>
                <c:pt idx="13">
                  <c:v>0.7832999350762854</c:v>
                </c:pt>
                <c:pt idx="14">
                  <c:v>0.7807622918071266</c:v>
                </c:pt>
                <c:pt idx="15">
                  <c:v>0.7782410355332484</c:v>
                </c:pt>
                <c:pt idx="16">
                  <c:v>0.7751079981022299</c:v>
                </c:pt>
                <c:pt idx="17">
                  <c:v>0.7719140946887407</c:v>
                </c:pt>
                <c:pt idx="18">
                  <c:v>0.7689511698753964</c:v>
                </c:pt>
                <c:pt idx="19">
                  <c:v>0.767225073039179</c:v>
                </c:pt>
                <c:pt idx="20">
                  <c:v>0.7596574025520014</c:v>
                </c:pt>
              </c:numCache>
            </c:numRef>
          </c:val>
          <c:smooth val="0"/>
        </c:ser>
        <c:ser>
          <c:idx val="2"/>
          <c:order val="2"/>
          <c:tx>
            <c:strRef>
              <c:f>Sheet1!$D$1</c:f>
              <c:strCache>
                <c:ptCount val="1"/>
                <c:pt idx="0">
                  <c:v>Error correlation 0.6</c:v>
                </c:pt>
              </c:strCache>
            </c:strRef>
          </c:tx>
          <c:spPr>
            <a:solidFill>
              <a:srgbClr val="D55E00"/>
            </a:solidFill>
            <a:ln w="38100" cap="flat">
              <a:solidFill>
                <a:srgbClr val="D55E00"/>
              </a:solidFill>
              <a:prstDash val="solid"/>
              <a:round/>
            </a:ln>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D55E00"/>
              </a:solidFill>
              <a:ln w="9525" cap="flat">
                <a:solidFill>
                  <a:srgbClr val="D55E00"/>
                </a:solidFill>
                <a:prstDash val="solid"/>
                <a:round/>
              </a:ln>
              <a:effectLst/>
            </c:spPr>
          </c:marker>
          <c:cat>
            <c:multiLvlStrRef>
              <c:f>Sheet1!$A$2:$A$22</c:f>
              <c:multiLvlStrCache>
                <c:ptCount val="21"/>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lvl>
              </c:multiLvlStrCache>
            </c:multiLvlStrRef>
          </c:cat>
          <c:val>
            <c:numRef>
              <c:f>Sheet1!$D$2:$D$22</c:f>
              <c:numCache>
                <c:formatCode>General</c:formatCode>
                <c:ptCount val="21"/>
                <c:pt idx="0">
                  <c:v>0.7952796089594726</c:v>
                </c:pt>
                <c:pt idx="1">
                  <c:v>0.7950548730241965</c:v>
                </c:pt>
                <c:pt idx="2">
                  <c:v>0.7944704035258571</c:v>
                </c:pt>
                <c:pt idx="3">
                  <c:v>0.7938921766923864</c:v>
                </c:pt>
                <c:pt idx="4">
                  <c:v>0.7930267872749519</c:v>
                </c:pt>
                <c:pt idx="5">
                  <c:v>0.7920552725547482</c:v>
                </c:pt>
                <c:pt idx="6">
                  <c:v>0.7908200052438384</c:v>
                </c:pt>
                <c:pt idx="7">
                  <c:v>0.7895082652882862</c:v>
                </c:pt>
                <c:pt idx="8">
                  <c:v>0.7880170487177567</c:v>
                </c:pt>
                <c:pt idx="9">
                  <c:v>0.7862964142132993</c:v>
                </c:pt>
                <c:pt idx="10">
                  <c:v>0.7845531500486927</c:v>
                </c:pt>
                <c:pt idx="11">
                  <c:v>0.7824150373311359</c:v>
                </c:pt>
                <c:pt idx="12">
                  <c:v>0.780408800908932</c:v>
                </c:pt>
                <c:pt idx="13">
                  <c:v>0.7781934352136239</c:v>
                </c:pt>
                <c:pt idx="14">
                  <c:v>0.7758735048817639</c:v>
                </c:pt>
                <c:pt idx="15">
                  <c:v>0.7734950495667591</c:v>
                </c:pt>
                <c:pt idx="16">
                  <c:v>0.7709363373036682</c:v>
                </c:pt>
                <c:pt idx="17">
                  <c:v>0.7683862087047719</c:v>
                </c:pt>
                <c:pt idx="18">
                  <c:v>0.7661185606911879</c:v>
                </c:pt>
                <c:pt idx="19">
                  <c:v>0.7653944115664094</c:v>
                </c:pt>
                <c:pt idx="20">
                  <c:v>0.7578751217319649</c:v>
                </c:pt>
              </c:numCache>
            </c:numRef>
          </c:val>
          <c:smooth val="0"/>
        </c:ser>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weight on the LLM ranks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tickLblSkip val="2"/>
      </c:catAx>
      <c:valAx>
        <c:axId val="2094734552"/>
        <c:scaling>
          <c:orientation val="minMax"/>
          <c:max val="0.81"/>
          <c:min val="0.75"/>
        </c:scaling>
        <c:delete val="0"/>
        <c:axPos val="l"/>
        <c:majorGridlines>
          <c:spPr>
            <a:ln w="9525" cap="flat">
              <a:solidFill>
                <a:srgbClr val="DDE3E9"/>
              </a:solidFill>
              <a:prstDash val="solid"/>
              <a:round/>
            </a:ln>
          </c:spPr>
        </c:majorGridlines>
        <c:title>
          <c:tx>
            <c:rich>
              <a:bodyPr/>
              <a:lstStyle/>
              <a:p>
                <a:pPr>
                  <a:defRPr sz="1400" b="0" i="0" u="none" strike="noStrike">
                    <a:solidFill>
                      <a:srgbClr val="6B7785"/>
                    </a:solidFill>
                    <a:latin typeface="+mn-lt"/>
                  </a:defRPr>
                </a:pPr>
                <a:r>
                  <a:rPr sz="1400" b="0" i="0" u="none" strike="noStrike">
                    <a:solidFill>
                      <a:srgbClr val="6B7785"/>
                    </a:solidFill>
                    <a:latin typeface="+mn-lt"/>
                  </a:rPr>
                  <a:t>C-index (hepatic), zoomed axis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The lower the rank correlation, the bigger the gain</a:t>
            </a:r>
          </a:p>
        </c:rich>
      </c:tx>
      <c:layout/>
      <c:overlay val="0"/>
    </c:title>
    <c:autoTitleDeleted val="0"/>
    <c:plotArea>
      <c:layout/>
      <c:lineChart>
        <c:varyColors val="0"/>
        <c:ser>
          <c:idx val="0"/>
          <c:order val="0"/>
          <c:tx>
            <c:strRef>
              <c:f>Sheet1!$B$1</c:f>
              <c:strCache>
                <c:ptCount val="1"/>
                <c:pt idx="0">
                  <c:v>Best blend gain</c:v>
                </c:pt>
              </c:strCache>
            </c:strRef>
          </c:tx>
          <c:spPr>
            <a:solidFill>
              <a:srgbClr val="0072B2"/>
            </a:solidFill>
            <a:ln w="38100" cap="flat">
              <a:solidFill>
                <a:srgbClr val="0072B2"/>
              </a:solidFill>
              <a:prstDash val="solid"/>
              <a:round/>
            </a:ln>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c:symbol val="circle"/>
            <c:size val="8"/>
            <c:spPr>
              <a:solidFill>
                <a:srgbClr val="0072B2"/>
              </a:solidFill>
              <a:ln w="9525" cap="flat">
                <a:solidFill>
                  <a:srgbClr val="0072B2"/>
                </a:solidFill>
                <a:prstDash val="solid"/>
                <a:round/>
              </a:ln>
              <a:effectLst/>
            </c:spPr>
          </c:marker>
          <c:cat>
            <c:multiLvlStrRef>
              <c:f>Sheet1!$A$2:$A$13</c:f>
              <c:multiLvlStrCache>
                <c:ptCount val="12"/>
                <c:lvl>
                  <c:pt idx="0">
                    <c:v>0.73</c:v>
                  </c:pt>
                  <c:pt idx="1">
                    <c:v>0.75</c:v>
                  </c:pt>
                  <c:pt idx="2">
                    <c:v>0.78</c:v>
                  </c:pt>
                  <c:pt idx="3">
                    <c:v>0.79</c:v>
                  </c:pt>
                  <c:pt idx="4">
                    <c:v>0.81</c:v>
                  </c:pt>
                  <c:pt idx="5">
                    <c:v>0.83</c:v>
                  </c:pt>
                  <c:pt idx="6">
                    <c:v>0.86</c:v>
                  </c:pt>
                  <c:pt idx="7">
                    <c:v>0.88</c:v>
                  </c:pt>
                  <c:pt idx="8">
                    <c:v>0.90</c:v>
                  </c:pt>
                  <c:pt idx="9">
                    <c:v>0.92</c:v>
                  </c:pt>
                  <c:pt idx="10">
                    <c:v>0.94</c:v>
                  </c:pt>
                  <c:pt idx="11">
                    <c:v>0.96</c:v>
                  </c:pt>
                </c:lvl>
              </c:multiLvlStrCache>
            </c:multiLvlStrRef>
          </c:cat>
          <c:val>
            <c:numRef>
              <c:f>Sheet1!$B$2:$B$13</c:f>
              <c:numCache>
                <c:formatCode>General</c:formatCode>
                <c:ptCount val="12"/>
                <c:pt idx="0">
                  <c:v>0.002819343521362483</c:v>
                </c:pt>
                <c:pt idx="1">
                  <c:v>0.0017471658301495552</c:v>
                </c:pt>
                <c:pt idx="2">
                  <c:v>0.0009660523884436056</c:v>
                </c:pt>
                <c:pt idx="3">
                  <c:v>0.0004424488725747189</c:v>
                </c:pt>
                <c:pt idx="4">
                  <c:v>0.00025516892651133993</c:v>
                </c:pt>
                <c:pt idx="5">
                  <c:v>0</c:v>
                </c:pt>
                <c:pt idx="6">
                  <c:v>0</c:v>
                </c:pt>
                <c:pt idx="7">
                  <c:v>0</c:v>
                </c:pt>
                <c:pt idx="8">
                  <c:v>0</c:v>
                </c:pt>
                <c:pt idx="9">
                  <c:v>0</c:v>
                </c:pt>
                <c:pt idx="10">
                  <c:v>0</c:v>
                </c:pt>
                <c:pt idx="11">
                  <c:v>0</c:v>
                </c:pt>
              </c:numCache>
            </c:numRef>
          </c:val>
          <c:smooth val="0"/>
        </c:ser>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Spearman ρ, LLM vs tabular ranks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03"/>
          <c:min val="0"/>
        </c:scaling>
        <c:delete val="0"/>
        <c:axPos val="l"/>
        <c:majorGridlines>
          <c:spPr>
            <a:ln w="9525" cap="flat">
              <a:solidFill>
                <a:srgbClr val="DDE3E9"/>
              </a:solidFill>
              <a:prstDash val="solid"/>
              <a:round/>
            </a:ln>
          </c:spPr>
        </c:majorGridlines>
        <c:title>
          <c:tx>
            <c:rich>
              <a:bodyPr/>
              <a:lstStyle/>
              <a:p>
                <a:pPr>
                  <a:defRPr sz="1400" b="0" i="0" u="none" strike="noStrike">
                    <a:solidFill>
                      <a:srgbClr val="6B7785"/>
                    </a:solidFill>
                    <a:latin typeface="+mn-lt"/>
                  </a:defRPr>
                </a:pPr>
                <a:r>
                  <a:rPr sz="1400" b="0" i="0" u="none" strike="noStrike">
                    <a:solidFill>
                      <a:srgbClr val="6B7785"/>
                    </a:solidFill>
                    <a:latin typeface="+mn-lt"/>
                  </a:rPr>
                  <a:t>best blend gain in C-index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1"/>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Unique score values among 2000 patients</a:t>
            </a:r>
          </a:p>
        </c:rich>
      </c:tx>
      <c:layout/>
      <c:overlay val="0"/>
    </c:title>
    <c:autoTitleDeleted val="0"/>
    <c:plotArea>
      <c:layout/>
      <c:barChart>
        <c:barDir val="col"/>
        <c:grouping val="clustered"/>
        <c:varyColors val="0"/>
        <c:ser>
          <c:idx val="0"/>
          <c:order val="0"/>
          <c:tx>
            <c:strRef>
              <c:f>Sheet1!$B$1</c:f>
              <c:strCache>
                <c:ptCount val="1"/>
                <c:pt idx="0">
                  <c:v>Unique scores</c:v>
                </c:pt>
              </c:strCache>
            </c:strRef>
          </c:tx>
          <c:spPr>
            <a:solidFill>
              <a:srgbClr val="0072B2"/>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5 levels</c:v>
                  </c:pt>
                  <c:pt idx="1">
                    <c:v>20 levels</c:v>
                  </c:pt>
                  <c:pt idx="2">
                    <c:v>100 levels</c:v>
                  </c:pt>
                </c:lvl>
              </c:multiLvlStrCache>
            </c:multiLvlStrRef>
          </c:cat>
          <c:val>
            <c:numRef>
              <c:f>Sheet1!$B$2:$B$4</c:f>
              <c:numCache>
                <c:formatCode>General</c:formatCode>
                <c:ptCount val="3"/>
                <c:pt idx="0">
                  <c:v>6</c:v>
                </c:pt>
                <c:pt idx="1">
                  <c:v>21</c:v>
                </c:pt>
                <c:pt idx="2">
                  <c:v>101</c:v>
                </c:pt>
              </c:numCache>
            </c:numRef>
          </c:val>
        </c:ser>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LLM score levels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unique score values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Our gain against the credible gain (two standard errors)</a:t>
            </a:r>
          </a:p>
        </c:rich>
      </c:tx>
      <c:layout/>
      <c:overlay val="0"/>
    </c:title>
    <c:autoTitleDeleted val="0"/>
    <c:plotArea>
      <c:layout/>
      <c:barChart>
        <c:barDir val="col"/>
        <c:grouping val="clustered"/>
        <c:varyColors val="0"/>
        <c:ser>
          <c:idx val="0"/>
          <c:order val="0"/>
          <c:tx>
            <c:strRef>
              <c:f>Sheet1!$B$1</c:f>
              <c:strCache>
                <c:ptCount val="1"/>
                <c:pt idx="0">
                  <c:v>Gain</c:v>
                </c:pt>
              </c:strCache>
            </c:strRef>
          </c:tx>
          <c:spPr>
            <a:solidFill>
              <a:srgbClr val="D55E00"/>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0072B2"/>
              </a:solidFill>
              <a:effectLst/>
            </c:spPr>
          </c:dPt>
          <c:dPt>
            <c:idx val="2"/>
            <c:invertIfNegative val="0"/>
            <c:bubble3D val="0"/>
            <c:spPr>
              <a:solidFill>
                <a:srgbClr val="0072B2"/>
              </a:solidFill>
              <a:effectLst/>
            </c:spPr>
          </c:dPt>
          <c:dPt>
            <c:idx val="3"/>
            <c:invertIfNegative val="0"/>
            <c:bubble3D val="0"/>
            <c:spPr>
              <a:solidFill>
                <a:srgbClr val="0072B2"/>
              </a:solidFill>
              <a:effectLst/>
            </c:spPr>
          </c:dPt>
          <c:cat>
            <c:multiLvlStrRef>
              <c:f>Sheet1!$A$2:$A$5</c:f>
              <c:multiLvlStrCache>
                <c:ptCount val="4"/>
                <c:lvl>
                  <c:pt idx="0">
                    <c:v>Our gain</c:v>
                  </c:pt>
                  <c:pt idx="1">
                    <c:v>Public, n=127</c:v>
                  </c:pt>
                  <c:pt idx="2">
                    <c:v>Private, n=296</c:v>
                  </c:pt>
                  <c:pt idx="3">
                    <c:v>Whole test, n=423</c:v>
                  </c:pt>
                </c:lvl>
              </c:multiLvlStrCache>
            </c:multiLvlStrRef>
          </c:cat>
          <c:val>
            <c:numRef>
              <c:f>Sheet1!$B$2:$B$5</c:f>
              <c:numCache>
                <c:formatCode>General</c:formatCode>
                <c:ptCount val="4"/>
                <c:pt idx="0">
                  <c:v>0.0056</c:v>
                </c:pt>
                <c:pt idx="1">
                  <c:v>0.0111</c:v>
                </c:pt>
                <c:pt idx="2">
                  <c:v>0.0059</c:v>
                </c:pt>
                <c:pt idx="3">
                  <c:v>0.0048</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12"/>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gain in weighted C-index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2"/>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Gain</c:v>
                </c:pt>
              </c:strCache>
            </c:strRef>
          </c:tx>
          <c:spPr>
            <a:solidFill>
              <a:srgbClr val="D55E00"/>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0072B2"/>
              </a:solidFill>
              <a:effectLst/>
            </c:spPr>
          </c:dPt>
          <c:dPt>
            <c:idx val="2"/>
            <c:invertIfNegative val="0"/>
            <c:bubble3D val="0"/>
            <c:spPr>
              <a:solidFill>
                <a:srgbClr val="0072B2"/>
              </a:solidFill>
              <a:effectLst/>
            </c:spPr>
          </c:dPt>
          <c:dPt>
            <c:idx val="3"/>
            <c:invertIfNegative val="0"/>
            <c:bubble3D val="0"/>
            <c:spPr>
              <a:solidFill>
                <a:srgbClr val="0072B2"/>
              </a:solidFill>
              <a:effectLst/>
            </c:spPr>
          </c:dPt>
          <c:cat>
            <c:multiLvlStrRef>
              <c:f>Sheet1!$A$2:$A$5</c:f>
              <c:multiLvlStrCache>
                <c:ptCount val="4"/>
                <c:lvl>
                  <c:pt idx="0">
                    <c:v>Our gain</c:v>
                  </c:pt>
                  <c:pt idx="1">
                    <c:v>Best of 5 tries</c:v>
                  </c:pt>
                  <c:pt idx="2">
                    <c:v>Best of 30 tries</c:v>
                  </c:pt>
                  <c:pt idx="3">
                    <c:v>Best of 272 tries</c:v>
                  </c:pt>
                </c:lvl>
              </c:multiLvlStrCache>
            </c:multiLvlStrRef>
          </c:cat>
          <c:val>
            <c:numRef>
              <c:f>Sheet1!$B$2:$B$5</c:f>
              <c:numCache>
                <c:formatCode>General</c:formatCode>
                <c:ptCount val="4"/>
                <c:pt idx="0">
                  <c:v>0.0056</c:v>
                </c:pt>
                <c:pt idx="1">
                  <c:v>0.01</c:v>
                </c:pt>
                <c:pt idx="2">
                  <c:v>0.0145</c:v>
                </c:pt>
                <c:pt idx="3">
                  <c:v>0.0186</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2"/>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typical best gain by chance, weighted C-index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5"/>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Simulation: best gain at the best weight</a:t>
            </a:r>
          </a:p>
        </c:rich>
      </c:tx>
      <c:layout/>
      <c:overlay val="0"/>
    </c:title>
    <c:autoTitleDeleted val="0"/>
    <c:plotArea>
      <c:layout/>
      <c:barChart>
        <c:barDir val="col"/>
        <c:grouping val="clustered"/>
        <c:varyColors val="0"/>
        <c:ser>
          <c:idx val="0"/>
          <c:order val="0"/>
          <c:tx>
            <c:strRef>
              <c:f>Sheet1!$B$1</c:f>
              <c:strCache>
                <c:ptCount val="1"/>
                <c:pt idx="0">
                  <c:v>Predicted best gain</c:v>
                </c:pt>
              </c:strCache>
            </c:strRef>
          </c:tx>
          <c:spPr>
            <a:solidFill>
              <a:srgbClr val="0072B2"/>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Error correlation 0.0</c:v>
                  </c:pt>
                  <c:pt idx="1">
                    <c:v>Error correlation 0.3</c:v>
                  </c:pt>
                  <c:pt idx="2">
                    <c:v>Error correlation 0.6</c:v>
                  </c:pt>
                </c:lvl>
              </c:multiLvlStrCache>
            </c:multiLvlStrRef>
          </c:cat>
          <c:val>
            <c:numRef>
              <c:f>Sheet1!$B$2:$B$4</c:f>
              <c:numCache>
                <c:formatCode>General</c:formatCode>
                <c:ptCount val="3"/>
                <c:pt idx="0">
                  <c:v>0.0064</c:v>
                </c:pt>
                <c:pt idx="1">
                  <c:v>0.002</c:v>
                </c:pt>
                <c:pt idx="2">
                  <c:v>0</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08"/>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gain in C-index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2"/>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Our gains vs the best case at our weights</a:t>
            </a:r>
          </a:p>
        </c:rich>
      </c:tx>
      <c:layout/>
      <c:overlay val="0"/>
    </c:title>
    <c:autoTitleDeleted val="0"/>
    <c:plotArea>
      <c:layout/>
      <c:barChart>
        <c:barDir val="col"/>
        <c:grouping val="clustered"/>
        <c:varyColors val="0"/>
        <c:ser>
          <c:idx val="0"/>
          <c:order val="0"/>
          <c:tx>
            <c:strRef>
              <c:f>Sheet1!$B$1</c:f>
              <c:strCache>
                <c:ptCount val="1"/>
                <c:pt idx="0">
                  <c:v>Best case at our weight, independent errors</c:v>
                </c:pt>
              </c:strCache>
            </c:strRef>
          </c:tx>
          <c:spPr>
            <a:solidFill>
              <a:srgbClr val="56B4E9"/>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Haiku into the base</c:v>
                  </c:pt>
                  <c:pt idx="1">
                    <c:v>GPT-OSS into the EfficientNet base</c:v>
                  </c:pt>
                </c:lvl>
              </c:multiLvlStrCache>
            </c:multiLvlStrRef>
          </c:cat>
          <c:val>
            <c:numRef>
              <c:f>Sheet1!$B$2:$B$3</c:f>
              <c:numCache>
                <c:formatCode>General</c:formatCode>
                <c:ptCount val="2"/>
                <c:pt idx="0">
                  <c:v>0.0023</c:v>
                </c:pt>
                <c:pt idx="1">
                  <c:v>0.0037</c:v>
                </c:pt>
              </c:numCache>
            </c:numRef>
          </c:val>
        </c:ser>
        <c:ser>
          <c:idx val="1"/>
          <c:order val="1"/>
          <c:tx>
            <c:strRef>
              <c:f>Sheet1!$C$1</c:f>
              <c:strCache>
                <c:ptCount val="1"/>
                <c:pt idx="0">
                  <c:v>Observed</c:v>
                </c:pt>
              </c:strCache>
            </c:strRef>
          </c:tx>
          <c:spPr>
            <a:solidFill>
              <a:srgbClr val="D55E00"/>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Haiku into the base</c:v>
                  </c:pt>
                  <c:pt idx="1">
                    <c:v>GPT-OSS into the EfficientNet base</c:v>
                  </c:pt>
                </c:lvl>
              </c:multiLvlStrCache>
            </c:multiLvlStrRef>
          </c:cat>
          <c:val>
            <c:numRef>
              <c:f>Sheet1!$C$2:$C$3</c:f>
              <c:numCache>
                <c:formatCode>General</c:formatCode>
                <c:ptCount val="2"/>
                <c:pt idx="0">
                  <c:v>0.0046</c:v>
                </c:pt>
                <c:pt idx="1">
                  <c:v>0.0056</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08"/>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gain in C-index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2"/>
      </c:valAx>
      <c:spPr>
        <a:noFill/>
        <a:ln>
          <a:noFill/>
        </a:ln>
        <a:effectLst/>
      </c:spPr>
    </c:plotArea>
    <c:legend>
      <c:legendPos val="b"/>
      <c:overlay val="0"/>
      <c:txPr>
        <a:bodyPr/>
        <a:lstStyle/>
        <a:p>
          <a:pPr>
            <a:defRPr sz="14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
          <c:y val="0.04"/>
          <c:w val="0.66"/>
          <c:h val="0.8"/>
        </c:manualLayout>
      </c:layout>
      <c:barChart>
        <c:barDir val="bar"/>
        <c:grouping val="clustered"/>
        <c:varyColors val="0"/>
        <c:ser>
          <c:idx val="0"/>
          <c:order val="0"/>
          <c:tx>
            <c:strRef>
              <c:f>Sheet1!$B$1</c:f>
              <c:strCache>
                <c:ptCount val="1"/>
                <c:pt idx="0">
                  <c:v>Weighted C-index</c:v>
                </c:pt>
              </c:strCache>
            </c:strRef>
          </c:tx>
          <c:spPr>
            <a:solidFill>
              <a:srgbClr val="D55E00"/>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D55E00"/>
              </a:solidFill>
              <a:effectLst/>
            </c:spPr>
          </c:dPt>
          <c:dPt>
            <c:idx val="2"/>
            <c:invertIfNegative val="0"/>
            <c:bubble3D val="0"/>
            <c:spPr>
              <a:solidFill>
                <a:srgbClr val="6B7785"/>
              </a:solidFill>
              <a:effectLst/>
            </c:spPr>
          </c:dPt>
          <c:dPt>
            <c:idx val="3"/>
            <c:invertIfNegative val="0"/>
            <c:bubble3D val="0"/>
            <c:spPr>
              <a:solidFill>
                <a:srgbClr val="0072B2"/>
              </a:solidFill>
              <a:effectLst/>
            </c:spPr>
          </c:dPt>
          <c:dPt>
            <c:idx val="4"/>
            <c:invertIfNegative val="0"/>
            <c:bubble3D val="0"/>
            <c:spPr>
              <a:solidFill>
                <a:srgbClr val="0072B2"/>
              </a:solidFill>
              <a:effectLst/>
            </c:spPr>
          </c:dPt>
          <c:cat>
            <c:multiLvlStrRef>
              <c:f>Sheet1!$A$2:$A$6</c:f>
              <c:multiLvlStrCache>
                <c:ptCount val="5"/>
                <c:lvl>
                  <c:pt idx="0">
                    <c:v>Follow-up span only (no biology)</c:v>
                  </c:pt>
                  <c:pt idx="1">
                    <c:v>CV as run</c:v>
                  </c:pt>
                  <c:pt idx="2">
                    <c:v>Red flag (a leak above this)</c:v>
                  </c:pt>
                  <c:pt idx="3">
                    <c:v>Window-free CV</c:v>
                  </c:pt>
                  <c:pt idx="4">
                    <c:v>Public leaderboard</c:v>
                  </c:pt>
                </c:lvl>
              </c:multiLvlStrCache>
            </c:multiLvlStrRef>
          </c:cat>
          <c:val>
            <c:numRef>
              <c:f>Sheet1!$B$2:$B$6</c:f>
              <c:numCache>
                <c:formatCode>General</c:formatCode>
                <c:ptCount val="5"/>
                <c:pt idx="0">
                  <c:v>0.9614</c:v>
                </c:pt>
                <c:pt idx="1">
                  <c:v>0.9502</c:v>
                </c:pt>
                <c:pt idx="2">
                  <c:v>0.947</c:v>
                </c:pt>
                <c:pt idx="3">
                  <c:v>0.902</c:v>
                </c:pt>
                <c:pt idx="4">
                  <c:v>0.8938</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weighted C-index (0.5 = random order)</a:t>
                </a:r>
              </a:p>
            </c:rich>
          </c:tx>
          <c:layout/>
          <c:overlay val="0"/>
        </c:title>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Window-free cross-validation</a:t>
            </a:r>
          </a:p>
        </c:rich>
      </c:tx>
      <c:layout/>
      <c:overlay val="0"/>
    </c:title>
    <c:autoTitleDeleted val="0"/>
    <c:plotArea>
      <c:layout/>
      <c:barChart>
        <c:barDir val="col"/>
        <c:grouping val="clustered"/>
        <c:varyColors val="0"/>
        <c:ser>
          <c:idx val="0"/>
          <c:order val="0"/>
          <c:tx>
            <c:strRef>
              <c:f>Sheet1!$B$1</c:f>
              <c:strCache>
                <c:ptCount val="1"/>
                <c:pt idx="0">
                  <c:v>Weighted C-index</c:v>
                </c:pt>
              </c:strCache>
            </c:strRef>
          </c:tx>
          <c:spPr>
            <a:solidFill>
              <a:srgbClr val="0072B2"/>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6B7785"/>
              </a:solidFill>
              <a:effectLst/>
            </c:spPr>
          </c:dPt>
          <c:dPt>
            <c:idx val="2"/>
            <c:invertIfNegative val="0"/>
            <c:bubble3D val="0"/>
            <c:spPr>
              <a:solidFill>
                <a:srgbClr val="D55E00"/>
              </a:solidFill>
              <a:effectLst/>
            </c:spPr>
          </c:dPt>
          <c:cat>
            <c:multiLvlStrRef>
              <c:f>Sheet1!$A$2:$A$4</c:f>
              <c:multiLvlStrCache>
                <c:ptCount val="3"/>
                <c:lvl>
                  <c:pt idx="0">
                    <c:v>Base</c:v>
                  </c:pt>
                  <c:pt idx="1">
                    <c:v>GPT-OSS alone</c:v>
                  </c:pt>
                  <c:pt idx="2">
                    <c:v>Base + GPT-OSS (0.07)</c:v>
                  </c:pt>
                </c:lvl>
              </c:multiLvlStrCache>
            </c:multiLvlStrRef>
          </c:cat>
          <c:val>
            <c:numRef>
              <c:f>Sheet1!$B$2:$B$4</c:f>
              <c:numCache>
                <c:formatCode>General</c:formatCode>
                <c:ptCount val="3"/>
                <c:pt idx="0">
                  <c:v>0.902</c:v>
                </c:pt>
                <c:pt idx="1">
                  <c:v>0.7465</c:v>
                </c:pt>
                <c:pt idx="2">
                  <c:v>0.8999</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weighted C-index (0.5 = random order)</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Folds where the blend beat the base</a:t>
            </a:r>
          </a:p>
        </c:rich>
      </c:tx>
      <c:layout/>
      <c:overlay val="0"/>
    </c:title>
    <c:autoTitleDeleted val="0"/>
    <c:plotArea>
      <c:layout/>
      <c:barChart>
        <c:barDir val="col"/>
        <c:grouping val="clustered"/>
        <c:varyColors val="0"/>
        <c:ser>
          <c:idx val="0"/>
          <c:order val="0"/>
          <c:tx>
            <c:strRef>
              <c:f>Sheet1!$B$1</c:f>
              <c:strCache>
                <c:ptCount val="1"/>
                <c:pt idx="0">
                  <c:v>Folds won</c:v>
                </c:pt>
              </c:strCache>
            </c:strRef>
          </c:tx>
          <c:spPr>
            <a:solidFill>
              <a:srgbClr val="D55E00"/>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D55E00"/>
              </a:solidFill>
              <a:effectLst/>
            </c:spPr>
          </c:dPt>
          <c:dPt>
            <c:idx val="2"/>
            <c:invertIfNegative val="0"/>
            <c:bubble3D val="0"/>
            <c:spPr>
              <a:solidFill>
                <a:srgbClr val="0072B2"/>
              </a:solidFill>
              <a:effectLst/>
            </c:spPr>
          </c:dPt>
          <c:cat>
            <c:multiLvlStrRef>
              <c:f>Sheet1!$A$2:$A$4</c:f>
              <c:multiLvlStrCache>
                <c:ptCount val="3"/>
                <c:lvl>
                  <c:pt idx="0">
                    <c:v>Hepatic</c:v>
                  </c:pt>
                  <c:pt idx="1">
                    <c:v>Death</c:v>
                  </c:pt>
                  <c:pt idx="2">
                    <c:v>Synthetic cohort</c:v>
                  </c:pt>
                </c:lvl>
              </c:multiLvlStrCache>
            </c:multiLvlStrRef>
          </c:cat>
          <c:val>
            <c:numRef>
              <c:f>Sheet1!$B$2:$B$4</c:f>
              <c:numCache>
                <c:formatCode>General</c:formatCode>
                <c:ptCount val="3"/>
                <c:pt idx="0">
                  <c:v>1</c:v>
                </c:pt>
                <c:pt idx="1">
                  <c:v>2</c:v>
                </c:pt>
                <c:pt idx="2">
                  <c:v>9</c:v>
                </c:pt>
              </c:numCache>
            </c:numRef>
          </c:val>
        </c:ser>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folds won, of 10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Limit 3: which score to quote</a:t>
            </a:r>
          </a:p>
        </c:rich>
      </c:tx>
      <c:layout/>
      <c:overlay val="0"/>
    </c:title>
    <c:autoTitleDeleted val="0"/>
    <c:plotArea>
      <c:layout/>
      <c:barChart>
        <c:barDir val="bar"/>
        <c:grouping val="clustered"/>
        <c:varyColors val="0"/>
        <c:ser>
          <c:idx val="0"/>
          <c:order val="0"/>
          <c:tx>
            <c:strRef>
              <c:f>Sheet1!$B$1</c:f>
              <c:strCache>
                <c:ptCount val="1"/>
                <c:pt idx="0">
                  <c:v>Weighted C-index</c:v>
                </c:pt>
              </c:strCache>
            </c:strRef>
          </c:tx>
          <c:spPr>
            <a:solidFill>
              <a:srgbClr val="0072B2"/>
            </a:solidFill>
            <a:effectLst/>
          </c:spPr>
          <c:invertIfNegative val="0"/>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0072B2"/>
              </a:solidFill>
              <a:effectLst/>
            </c:spPr>
          </c:dPt>
          <c:dPt>
            <c:idx val="2"/>
            <c:invertIfNegative val="0"/>
            <c:bubble3D val="0"/>
            <c:spPr>
              <a:solidFill>
                <a:srgbClr val="D55E00"/>
              </a:solidFill>
              <a:effectLst/>
            </c:spPr>
          </c:dPt>
          <c:cat>
            <c:multiLvlStrRef>
              <c:f>Sheet1!$A$2:$A$4</c:f>
              <c:multiLvlStrCache>
                <c:ptCount val="3"/>
                <c:lvl>
                  <c:pt idx="0">
                    <c:v>Public leaderboard</c:v>
                  </c:pt>
                  <c:pt idx="1">
                    <c:v>Leak-free CV</c:v>
                  </c:pt>
                  <c:pt idx="2">
                    <c:v>CV as run (leaky)</c:v>
                  </c:pt>
                </c:lvl>
              </c:multiLvlStrCache>
            </c:multiLvlStrRef>
          </c:cat>
          <c:val>
            <c:numRef>
              <c:f>Sheet1!$B$2:$B$4</c:f>
              <c:numCache>
                <c:formatCode>General</c:formatCode>
                <c:ptCount val="3"/>
                <c:pt idx="0">
                  <c:v>0.8938</c:v>
                </c:pt>
                <c:pt idx="1">
                  <c:v>0.902</c:v>
                </c:pt>
                <c:pt idx="2">
                  <c:v>0.9502</c:v>
                </c:pt>
              </c:numCache>
            </c:numRef>
          </c:val>
        </c:ser>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weighted C-index (0.5 = random order)</a:t>
                </a:r>
              </a:p>
            </c:rich>
          </c:tx>
          <c:layout/>
          <c:overlay val="0"/>
        </c:title>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Lower correlation, bigger gain</a:t>
            </a:r>
          </a:p>
        </c:rich>
      </c:tx>
      <c:layout/>
      <c:overlay val="0"/>
    </c:title>
    <c:autoTitleDeleted val="0"/>
    <c:plotArea>
      <c:layout/>
      <c:lineChart>
        <c:varyColors val="0"/>
        <c:ser>
          <c:idx val="0"/>
          <c:order val="0"/>
          <c:tx>
            <c:strRef>
              <c:f>Sheet1!$B$1</c:f>
              <c:strCache>
                <c:ptCount val="1"/>
                <c:pt idx="0">
                  <c:v>Best blend gain</c:v>
                </c:pt>
              </c:strCache>
            </c:strRef>
          </c:tx>
          <c:spPr>
            <a:solidFill>
              <a:srgbClr val="0072B2"/>
            </a:solidFill>
            <a:ln w="38100" cap="flat">
              <a:solidFill>
                <a:srgbClr val="0072B2"/>
              </a:solidFill>
              <a:prstDash val="solid"/>
              <a:round/>
            </a:ln>
            <a:effectLst/>
          </c:spPr>
          <c:invertIfNegative val="0"/>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0072B2"/>
              </a:solidFill>
              <a:ln w="9525" cap="flat">
                <a:solidFill>
                  <a:srgbClr val="0072B2"/>
                </a:solidFill>
                <a:prstDash val="solid"/>
                <a:round/>
              </a:ln>
              <a:effectLst/>
            </c:spPr>
          </c:marker>
          <c:cat>
            <c:multiLvlStrRef>
              <c:f>Sheet1!$A$2:$A$13</c:f>
              <c:multiLvlStrCache>
                <c:ptCount val="12"/>
                <c:lvl>
                  <c:pt idx="0">
                    <c:v>0.73</c:v>
                  </c:pt>
                  <c:pt idx="1">
                    <c:v/>
                  </c:pt>
                  <c:pt idx="2">
                    <c:v/>
                  </c:pt>
                  <c:pt idx="3">
                    <c:v>0.79</c:v>
                  </c:pt>
                  <c:pt idx="4">
                    <c:v/>
                  </c:pt>
                  <c:pt idx="5">
                    <c:v/>
                  </c:pt>
                  <c:pt idx="6">
                    <c:v>0.86</c:v>
                  </c:pt>
                  <c:pt idx="7">
                    <c:v/>
                  </c:pt>
                  <c:pt idx="8">
                    <c:v/>
                  </c:pt>
                  <c:pt idx="9">
                    <c:v>0.92</c:v>
                  </c:pt>
                  <c:pt idx="10">
                    <c:v/>
                  </c:pt>
                  <c:pt idx="11">
                    <c:v/>
                  </c:pt>
                </c:lvl>
              </c:multiLvlStrCache>
            </c:multiLvlStrRef>
          </c:cat>
          <c:val>
            <c:numRef>
              <c:f>Sheet1!$B$2:$B$13</c:f>
              <c:numCache>
                <c:formatCode>General</c:formatCode>
                <c:ptCount val="12"/>
                <c:pt idx="0">
                  <c:v>0.002819343521362483</c:v>
                </c:pt>
                <c:pt idx="1">
                  <c:v>0.0017471658301495552</c:v>
                </c:pt>
                <c:pt idx="2">
                  <c:v>0.0009660523884436056</c:v>
                </c:pt>
                <c:pt idx="3">
                  <c:v>0.0004424488725747189</c:v>
                </c:pt>
                <c:pt idx="4">
                  <c:v>0.00025516892651133993</c:v>
                </c:pt>
                <c:pt idx="5">
                  <c:v>0</c:v>
                </c:pt>
                <c:pt idx="6">
                  <c:v>0</c:v>
                </c:pt>
                <c:pt idx="7">
                  <c:v>0</c:v>
                </c:pt>
                <c:pt idx="8">
                  <c:v>0</c:v>
                </c:pt>
                <c:pt idx="9">
                  <c:v>0</c:v>
                </c:pt>
                <c:pt idx="10">
                  <c:v>0</c:v>
                </c:pt>
                <c:pt idx="11">
                  <c:v>0</c:v>
                </c:pt>
              </c:numCache>
            </c:numRef>
          </c:val>
          <c:smooth val="0"/>
        </c:ser>
        <c:dLbls>
          <c:numFmt formatCode="#,##0" sourceLinked="0"/>
          <c:txPr>
            <a:bodyPr/>
            <a:lstStyle/>
            <a:p>
              <a:pPr>
                <a:defRPr b="0" i="0" strike="noStrike" sz="14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7785"/>
                    </a:solidFill>
                    <a:latin typeface="+mn-lt"/>
                  </a:defRPr>
                </a:pPr>
                <a:r>
                  <a:rPr sz="1400" b="0" i="0" u="none" strike="noStrike">
                    <a:solidFill>
                      <a:srgbClr val="6B7785"/>
                    </a:solidFill>
                    <a:latin typeface="+mn-lt"/>
                  </a:rPr>
                  <a:t>Spearman ρ, LLM vs base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003"/>
          <c:min val="0"/>
        </c:scaling>
        <c:delete val="0"/>
        <c:axPos val="l"/>
        <c:majorGridlines>
          <c:spPr>
            <a:ln w="9525" cap="flat">
              <a:solidFill>
                <a:srgbClr val="DDE3E9"/>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001"/>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A leak probe beats the model</a:t>
            </a:r>
          </a:p>
        </c:rich>
      </c:tx>
      <c:layout/>
      <c:overlay val="0"/>
    </c:title>
    <c:autoTitleDeleted val="0"/>
    <c:plotArea>
      <c:layout/>
      <c:barChart>
        <c:barDir val="bar"/>
        <c:grouping val="clustered"/>
        <c:varyColors val="0"/>
        <c:ser>
          <c:idx val="0"/>
          <c:order val="0"/>
          <c:tx>
            <c:strRef>
              <c:f>Sheet1!$B$1</c:f>
              <c:strCache>
                <c:ptCount val="1"/>
                <c:pt idx="0">
                  <c:v>Weighted C-index</c:v>
                </c:pt>
              </c:strCache>
            </c:strRef>
          </c:tx>
          <c:spPr>
            <a:solidFill>
              <a:srgbClr val="0072B2"/>
            </a:solidFill>
            <a:effectLst/>
          </c:spPr>
          <c:invertIfNegative val="0"/>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D55E00"/>
              </a:solidFill>
              <a:effectLst/>
            </c:spPr>
          </c:dPt>
          <c:dPt>
            <c:idx val="2"/>
            <c:invertIfNegative val="0"/>
            <c:bubble3D val="0"/>
            <c:spPr>
              <a:solidFill>
                <a:srgbClr val="D55E00"/>
              </a:solidFill>
              <a:effectLst/>
            </c:spPr>
          </c:dPt>
          <c:cat>
            <c:multiLvlStrRef>
              <c:f>Sheet1!$A$2:$A$4</c:f>
              <c:multiLvlStrCache>
                <c:ptCount val="3"/>
                <c:lvl>
                  <c:pt idx="0">
                    <c:v>Leak-free CV</c:v>
                  </c:pt>
                  <c:pt idx="1">
                    <c:v>CV as run</c:v>
                  </c:pt>
                  <c:pt idx="2">
                    <c:v>Span alone</c:v>
                  </c:pt>
                </c:lvl>
              </c:multiLvlStrCache>
            </c:multiLvlStrRef>
          </c:cat>
          <c:val>
            <c:numRef>
              <c:f>Sheet1!$B$2:$B$4</c:f>
              <c:numCache>
                <c:formatCode>General</c:formatCode>
                <c:ptCount val="3"/>
                <c:pt idx="0">
                  <c:v>0.902</c:v>
                </c:pt>
                <c:pt idx="1">
                  <c:v>0.9502</c:v>
                </c:pt>
                <c:pt idx="2">
                  <c:v>0.9614</c:v>
                </c:pt>
              </c:numCache>
            </c:numRef>
          </c:val>
        </c:ser>
        <c:dLbls>
          <c:numFmt formatCode="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XGBoost</c:v>
                </c:pt>
              </c:strCache>
            </c:strRef>
          </c:tx>
          <c:spPr>
            <a:solidFill>
              <a:srgbClr val="0072B2"/>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CV as run (leaky)</c:v>
                  </c:pt>
                  <c:pt idx="1">
                    <c:v>Window-free CV</c:v>
                  </c:pt>
                </c:lvl>
              </c:multiLvlStrCache>
            </c:multiLvlStrRef>
          </c:cat>
          <c:val>
            <c:numRef>
              <c:f>Sheet1!$B$2:$B$3</c:f>
              <c:numCache>
                <c:formatCode>General</c:formatCode>
                <c:ptCount val="2"/>
                <c:pt idx="0">
                  <c:v>0.9434</c:v>
                </c:pt>
                <c:pt idx="1">
                  <c:v>0.9123</c:v>
                </c:pt>
              </c:numCache>
            </c:numRef>
          </c:val>
        </c:ser>
        <c:ser>
          <c:idx val="1"/>
          <c:order val="1"/>
          <c:tx>
            <c:strRef>
              <c:f>Sheet1!$C$1</c:f>
              <c:strCache>
                <c:ptCount val="1"/>
                <c:pt idx="0">
                  <c:v>CatBoost</c:v>
                </c:pt>
              </c:strCache>
            </c:strRef>
          </c:tx>
          <c:spPr>
            <a:solidFill>
              <a:srgbClr val="56B4E9"/>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CV as run (leaky)</c:v>
                  </c:pt>
                  <c:pt idx="1">
                    <c:v>Window-free CV</c:v>
                  </c:pt>
                </c:lvl>
              </c:multiLvlStrCache>
            </c:multiLvlStrRef>
          </c:cat>
          <c:val>
            <c:numRef>
              <c:f>Sheet1!$C$2:$C$3</c:f>
              <c:numCache>
                <c:formatCode>General</c:formatCode>
                <c:ptCount val="2"/>
                <c:pt idx="0">
                  <c:v>0.9494</c:v>
                </c:pt>
                <c:pt idx="1">
                  <c:v>0.8782</c:v>
                </c:pt>
              </c:numCache>
            </c:numRef>
          </c:val>
        </c:ser>
        <c:ser>
          <c:idx val="2"/>
          <c:order val="2"/>
          <c:tx>
            <c:strRef>
              <c:f>Sheet1!$D$1</c:f>
              <c:strCache>
                <c:ptCount val="1"/>
                <c:pt idx="0">
                  <c:v>50/50 blend</c:v>
                </c:pt>
              </c:strCache>
            </c:strRef>
          </c:tx>
          <c:spPr>
            <a:solidFill>
              <a:srgbClr val="D55E00"/>
            </a:solidFill>
            <a:effectLst/>
          </c:spPr>
          <c:invertIfNegative val="0"/>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CV as run (leaky)</c:v>
                  </c:pt>
                  <c:pt idx="1">
                    <c:v>Window-free CV</c:v>
                  </c:pt>
                </c:lvl>
              </c:multiLvlStrCache>
            </c:multiLvlStrRef>
          </c:cat>
          <c:val>
            <c:numRef>
              <c:f>Sheet1!$D$2:$D$3</c:f>
              <c:numCache>
                <c:formatCode>General</c:formatCode>
                <c:ptCount val="2"/>
                <c:pt idx="0">
                  <c:v>0.9502</c:v>
                </c:pt>
                <c:pt idx="1">
                  <c:v>0.902</c:v>
                </c:pt>
              </c:numCache>
            </c:numRef>
          </c:val>
        </c:ser>
        <c:dLbls>
          <c:numFmt formatCode="0.0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title>
          <c:tx>
            <c:rich>
              <a:bodyPr/>
              <a:lstStyle/>
              <a:p>
                <a:pPr>
                  <a:defRPr sz="1400" b="0" i="0" u="none" strike="noStrike">
                    <a:solidFill>
                      <a:srgbClr val="6B7785"/>
                    </a:solidFill>
                    <a:latin typeface="+mn-lt"/>
                  </a:defRPr>
                </a:pPr>
                <a:r>
                  <a:rPr sz="1400" b="0" i="0" u="none" strike="noStrike">
                    <a:solidFill>
                      <a:srgbClr val="6B7785"/>
                    </a:solidFill>
                    <a:latin typeface="+mn-lt"/>
                  </a:rPr>
                  <a:t>weighted C-index (0.5 = random order)</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4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This talk is for you, not about me.
Thank you for having me. Some of you treat patients. Some of you build models. Some of you do both, and some of you do neither. Whichever you are, you will leave with one check that catches a model reading the answers instead of the patient. [PAUSE - 2s] Our story focuses on MASLD—metabolic dysfunction-associated steatotic liver disease. You can think of it as a condition where excess fat builds up in the liver, often linked to diabetes or weight challenges. Our clinical goal was simple to state, but tough to solve: predict which patients will suffer a severe liver event or death. The catch? Patients don't visit the clinic on a neat schedule. Their records are like a book with missing chapters—uneven visits, long gaps, and tests taken at irregular times.
TIME: about 80 s
CHECK BEFORE PRESENTING: Any personal greeting or thanks to the GAIN hosts. If the host can share the rough registrant mix, name it here in place of the four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Here is the road we will take.
Three questions today, one per row. First: can a weak language model help a strong one at all? Yes, if its mistakes differ. Second: did ours? Three tests say no. Third: how would you check your own work? That part is yours to take home. [PAUSE - 2s] I will tell you where we are as we go.
TIME: about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If you remember one sentence from the opening, make it this one.
The whole talk in one picture, left to right. The tree models read the table of measurements and rank patients well. The LLM reads the same record as text. It ranks worse, but its mistakes differ. Blend the two, and the leaderboard score seemed to improve. [PAUSE - 2s] I will show you why that was plausible, and how a careful repeat of the test overturned it.
TIME: about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Here is the number that looked like a win.
The score on this chart is the C-index: 1 means every patient is in the right order, and 0.5 means random order. Blue bars are models alone. Orange bars are blends. Our tabular base alone scored 0.894. GPT-OSS, an open LLM with 120 billion parameters, scored 0.792 alone, far below it. Now look at the last orange bar. Blended in at a small weight, GPT-OSS gave this pipeline's best public score, 0.904. [PAUSE - 2s] A gap of 0.01 looks like progress, even on an axis that starts at random order. That is how it looked to us. Before I go on, a question for the chat. If a colleague showed you this result, what is the first thing you would ask? One line is enough. Type it in the Meet chat now, and I will come back to your answers shortly.
TIME: about 110 s (+30 s for the chat)
CHECK BEFORE PRESENTING: Ask a GAIN host or co-host to watch the Meet chat and read out two or three answers, so you can keep presenting. The chart is drawn from leaderboard.csv, and its title says "leaderboard". Add a personal anecdote here only if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The scoring rule decides the method.
The challenge score is 0.7 times the C-index for liver events, plus 0.3 times the C-index for death. The C-index asks of every pair of patients we can compare: did the one with the earlier event get the higher risk? Like a race result, only the finishing order counts, not the times. Four bars, in two pairs. First: a score, and the same score stretched, give the same C-index, 0.7926. Second: average the raw scores, and the LLM's wider scale takes over, 0.7606. Average the ranks instead, and both models count: 0.7884. [PAUSE - 2s] So when the metric only sees order, blend ranks.
TIME: about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Before any model, meet three patients.
Each patient is one row, with up to 22 visits, each with blood tests and liver stiffness, measured by FibroScan. Three synthetic patients, left to right, with the same columns as the real records. Patient A is a woman of 41. She has five visits, and FibroScan at only two of them. Both readings are above the cirrhosis line, where the liver is badly scarred. Then her record ends, because she has a hepatic event, a major liver event. [PAUSE - 2s] Patient B is a man of 55, with fifteen visits over about twelve years and low FibroScan readings at twelve of them. He is still event-free when follow-up ends. Patient C is a man of 70 with six visits. FibroScan at four, all above the cirrhosis line. He is also still event-free at his last visit, and we do not know what happens next. That is right censoring. Patient A's record is the shortest, because the event ended it. So what could a model learn from the length of a record alone? Hold that thought.
TIME: about 100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Before any LLM, see how our strong model reads Patient A.
Our strong model is two boosted tree models, XGBoost and CatBoost. A tree is a flowchart of yes/no questions. Here is the first tree, with Patient A's path. Is her FibroTest above 0.64? Yes. Above 0.86? Yes. Two more questions, and this tree says higher risk. Grey dots are questions she never meets. [PAUSE - 2s] One tree is a weak guess. Boosting adds 250, each correcting the ones before it. CatBoost grows 250 more, and we blend the two by rank. Together, they rank Patient A above 99% of the test patients. This model sees only her first visit. What if it also saw how long her record runs?
TIME: about 65 s
IF YOU RUN LONG: If you run long, skip the CatBoost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Patient A's record was short for a reason.
Now the whole synthetic cohort. Two charts. On the left, the number of visits per patient. The orange bars are patients with a hepatic event, and they have fewer visits, because follow-up ends at the event. That is Patient A's story, many times over. So, to my question: the number of visits, and the length of follow-up, quietly encode the outcome. On the right, the same tree models. In synthetic data we know each patient's true risk, and ranking by it scores 0.825. That is the ceiling. The trees you just saw, limited to the first visit, score 0.798, just below it, as an honest model should. A model that sees the whole follow-up window scores 0.920, above the ceiling. A model that beats the truth is reading the answer. In Ghana we have a word for this: apor, the leaked exam paper. [PAUSE - 2s] I am telling you this now because we fell into this trap ourselves, and I will show you how we found out.
TIME: about 95 s
CHECK BEFORE PRESENTING: Keep the apor line only if it suits the room. Listeners from outside Ghana get its meaning from "the leaked exam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The model never sees the spreadsheet. It reads a clinical note.
HeLM is a simple idea: give a language model a patient's record as text, and read a risk out of it. It comes from Belyaeva, Cosentino and colleagues, in 2023. On the left is Patient A again, as the model sees her: not a spreadsheet, but a short clinical note. FibroScan reads 15.18, then 15.22: stable. Platelets are falling, and the last value is below the 150 threshold. The note adds direction words, like rising and falling, normal ranges, and her other conditions. On the right, two prompts: one question per endpoint, meaning per outcome. Liver events are driven by fibrosis, the scarring of the liver. Death is driven mostly by age, and by heart and metabolic disease. One combined prompt blurs the two, so each outcome gets its own prompt and its own score from 0 to 100. [PAUSE - 2s] We treat those scores as rankings, never as probabilities. A C-index needs nothing more.
TIME: about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Everything except the model call is plain code we wrote.
Follow the top row: guard, prompt, one model call, retry, log. Only the blue box is the model. It sees one prompt and returns one JSON object. The rest is the harness. It decides what the model may see, keeps a long run alive on free API tiers, and saves every score, so a crash costs nothing. It is a fixed pipeline, not an autonomous agent: the model picks no tools and no next steps. [PAUSE - 2s] So put the guards in the harness, not in the prompt. Look at the dashed row: a prompt that says "ignore follow-up length" still contains it. That is like telling a jury to disregard what it just heard. It cannot unhear it. In the top row, the guard drops it before the prompt is written, so the model never sees it. One note on privacy: GPT-OSS ran on Ollama's cloud, so that text left the machine. The data here is synthetic; with real records, that matters.
TIME: about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A weak model can still earn its place.
Think of a second opinion. It helps only if the second doctor can catch what the first one missed. A ranker is any model that puts patients in order of risk. Take two simulated rankers of the same true risk: a strong tabular one, and a weaker LLM one with about 20 distinct scores, like real LLM scores. We turn one knob: how often they make the same mistakes. Each line is one setting, with its overlap drawn beside it. When the mistakes differ, the line climbs above the base as the LLM gets more weight. When they are shared, it only falls. A second opinion only helps if its mistakes differ. [PAUSE - 2s] So judge a new model by what it adds to the blend, not by its score alone. Judged alone, our LLM would have been thrown away.
TIME: about 80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Measure before you spend.
Scoring every patient costs two LLM calls, so test cheaply first. Start with a smoke test on Patients A, B and C: does the prompt run, does the JSON parse, do the scores differ? Then two checks, one per chart. On the left, the Spearman rank correlation: how closely the second opinion agrees with the first. The higher it is, the less the blend gains. On the right, count the distinct scores. Five score levels give only six distinct values, and a ranker with a handful of scores ties most pairs.
TIME: about 55 s
CHECK BEFORE PRESENTING: Decided: score three patients first. Three patients are a smoke test, not an estimate: a Spearman correlation on three patients can only be 1, 0.5, -0.5 or -1. Say "the correlation needs a bigger first batch" if someone asks. In the synthetic demo, score granularity cost little (LLM alone 0.743 at 5 levels, 0.752 at 100), so correlation is the bigger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This is what we actually submitted.
This is what we submitted: GPT-OSS blended with an image model, then into our tabular base, by rank both times. So the LLM's effective weight was about 0.075. Small.
TIME: about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Before we test the apparent win, pause on what Part 1 established.
MASLD records are irregular, and events can shorten them. That makes follow-up length a leak unless the harness removes it before prompting. A weak LLM can still help, but only when its ranking errors differ. Together, this evidence made the small-weight blend plausible. Part 2 tests whether the apparent gain was real.
TIME: about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So was the 0.904 real? Let me go back to your question.
Earlier I asked what you would ask first. If you wrote "how big was the test set?" or "how many times did you try?", you were already running test one. If you wrote "was there a leak?", that is test two, and for us it mattered most. We held every change to three tests. Test one: is the gain bigger than the noise? On the left, the public leaderboard: 127 patients, and only about five liver events. Seventy percent of the score rests on how those five are ranked. No one would approve a drug on a trial with five events. On the right, our gain against the gain you would need on each sample. A standard error is the size of a typical chance swing, and a credible gain is two of them, about 0.011 here. Our gain from adding GPT-OSS is the short bar: 0.0056, one standard error. [PAUSE - 2s] Even on the 296 private patients, you would need 0.0059.
TIME: about 105 s (+15 s if you read out chat answers)
NOTE: Why 70%: the score is 0.7 times the hepatic C-index plus 0.3 times the death C-index, and every hepatic pair the C-index can compare includes one of the patients with an event. Five is expected, not observed: 127 times the training rate of 47 in 1,253 is just under five. The public split's own count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Noise also grows with how many times you look.
Test one has a second part: how many times did we look? Flip 272 fair coins ten times each. The luckiest coin will almost always land heads at least nine times. It is not a magic coin. It is the best of 272. Leaderboards work the same way. Four bars: our gain on the left, then the best gain that chance alone gives you, as the number of tries goes up. With five tries, it is 0.0100. With thirty, 0.0145. With 272, our scored uploads, it is 0.0186. [PAUSE - 2s] Our gain sits below all three. A benchmark win below the noise floor is not a win.
TIME: about 65 s
NOTE: The coin line: one coin shows 9 or more heads in 10 flips with chance 11 in 1,024, so all 272 miss with chance (1 - 11/1024)^272, about 5%. Submission seven (best public score) moved from the script to the likely questions. data/CHALLENGE_SUBS.md lists 280 uploads, of which 272 were scored (8 scoring errors). Say "scored uploads", not "uploads". The deck line was corrected to match. Submission seven is not the LLM blend, whose final upload scored 0.904 (leaderboard.csv). data/CHALLENGE_SUBS.md gives it the same listed score, 0.93081, as submission_cv_0, uploaded the same day, and no file in the repo says which pipeline made either. If asked, say "a different pipeline, not the LLM blend".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Some gains are too good for the mechanism.
Test two: is the gain too good to be true? Start with the mechanism: how much can a second model add at most? Two charts. On the left, a simulation: with independent mistakes, the best blend gain is about 0.006. At an error correlation of 0.3, about 0.002. At 0.6, nothing. On the right, our two blends. Adding GPT-OSS at weight 0.07, even with fully independent mistakes, should give about 0.0037. We saw 0.0056. [PAUSE - 2s] When reality beats the best case, suspect the measurement, not the model. A score above what is possible is a leak, not a win. Before I show you ours, a prediction for the chat. Picture a model that sees only one thing per patient: the gap between the first and the last visit. No blood tests, no scans. Will it rank patients worse than our whole model, about the same, or better? Type worse, same or better.
TIME: about 110 s (+20 s: wait for the guesses, and have the host read two or three before you click. The next headline gives the answer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The leak was not only on the leaderboard. It was in our own CV.
If you typed better, you just found the leak in our pipeline. If you typed worse, that is the sensible guess, and it is wrong. Look at the bottom bar: the gap between the first and last visit, with no biology at all, scored 0.9614. [PAUSE - 2s] That beats our whole model. A model that reads follow-up duration isn't predicting disease. It's reading the label. Patient A's short record is exactly what it reads. How did we get here? Cross-validation, or CV, tests a model on patients it did not train on: split the training data into ten folds, hold one out, train on the rest, and repeat. Our tabular base scored 0.9502 in CV, but 0.8938 on the leaderboard. And 0.9502 is above our red flag, 0.947, the score above which we suspect a leak. So we ran the probe you just predicted. This was our own pipeline and our own mistake. We dropped every feature computed over the follow-up window, 26 in all. The same base, now leak-free, scores 0.9020, below the red flag and within 0.008 of the leaderboard.
TIME: about 100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Test three is replication, and this is the replication that mattered.
Test three, replication: does the gain show up on data the leaderboard never saw? GPT-OSS scored all 1,253 training patients zero-shot, with no examples in the prompt. It saw only what the leak-free base sees: no follow-up length, no visits after the event. The blend weight is 0.07, the one we submitted, fixed in advance. Two charts. On the left, the leak-free CV: base 0.9020, base plus GPT-OSS 0.8999. On the right, the folds. The blend beat the base in just one hepatic fold and two death folds. For contrast, in a synthetic cohort where an LLM does add real signal, the same weight wins nine of ten. A gain you can't replicate isn't a gain. [PAUSE - 2s] One caveat: this is not an exact replay of the leaderboard run. The inputs are stricter, and the base is the tabular model.
TIME: about 80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Maybe a better prompt or a stronger model would change the answer.
Four rows, one per model and prompt. Split means one prompt per outcome; joint, one for both. Each dot is what that LLM adds to our base, and each bar spans two standard errors, our bar for a credible gain. The dashed line is zero, and every bar crosses it. [PAUSE - 2s] Reasoning helps the LLM alone: Nemotron 3 Super, which works step by step before it answers, is the strongest, at 0.789. Its dot is the only one right of zero, but its bar still crosses it. And the LLMs agree with each other, at a rank correlation of about 0.8: second opinions from doctors trained in the same school. Swapping one for another changes little. The weak-ranker idea is real. Here, the LLM's mistakes were too close to the base's for it to help.
TIME: about 80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The audit changed the conclusion.
The public gain was within noise after many tries. It was larger than the mechanism predicted, follow-up span exposed the leak, and the leak-free blend scored below the base. The apparent win did not hold. The audit changed the conclusion, so Part 3 converts the findings into practical habits.
TIME: about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Here is what this result does not show.
Two limits in the table, one in the chart. First, the LLM scores rank patients. They are not risks, and we never report them as risks. Second, two calls per patient cost money, and a hosted model can change under you, so store the raw scores and the model tag with every run. Third, in the chart: our own CV read follow-up length and scored 0.950. The number to quote is the leak-free one, 0.902. [PAUSE - 2s] None of this says LLMs are useless here. It says that here, this one did not help.
TIME: about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Take one of these home.
One habit per column, each with its evidence beneath it. One: start with a model you can run yourself, and know where your data goes. MedGemma scored all 1,253 patients on a laptop in about 35 minutes, and no record left the machine. To be fair, it ranked poorly here, 0.59 alone, so I am saying it is feasible, not that it is good. Cloud and free endpoints may log prompts, so check the data terms before you send patient records. Two: test cheaply before you pay. Score three patients, then check the rank correlation and the number of distinct scores. Three: look for leaks in your own features first. The gap between the first and last visit alone scored 0.96, above the whole model. Before I click, one question for you: what were the three tests? [PAUSE - 2s]
TIME: about 80 s
CHECK BEFORE PRESENTING: Recheck the 35 minutes before you present. The free-tier quota (about 1,000 requests a day) moved to the likely questions; recheck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before the slide: Here are the three tests, and the checklist behind them.
Is the gain bigger than the noise? Is it too good to be true? Does it replicate? You already ask these in your own work. The 120-billion-parameter model gave us the gain that did not replicate. A better check beats a bigger model. [PAUSE - 2s] So, one action each. If you treat patients, ask whoever built the model: what does it score with the dates alone? If you build models, run that probe this week. If you do neither, ask the three questions of the next AI headline you read. Whichever you choose: if the result survives, you have earned the right to trust it. If it does not, you have caught something before it reached a paper or a patient. If you try it, I would love to hear what you find. My email is polleronny2 at gmail dot com, and it is on the slide. I will paste the link to the repo, with the code and the checklist, in the chat. Thank you. I will take your questions.
TIME: about 95 s
NOTE: Keep this slide up during the questions.
CHECK BEFORE PRESENTING: Paste the repo link into the Meet chat as you close. The deck has a hidden placeholder for the link: add it after you push, if you also want it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The leaky CV approved the 50/50 XGBoost and CatBoost blend on a margin of 0.0008. Window-free, XGBoost alone looks better: fold mean +0.0155 ± 0.0056 (2.8 SE), patient bootstrap +0.0103 ± 0.0070 (1.5 SE), and XGBoost beats the blend in 6 of 10 hepatic and 5 of 10 death folds. We chose the comparison after seeing the scores. Suggestive, not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The same pattern in credit risk, search, and triage: strong base, candidate ranker, rank blend, reciprocal rank fusion, or ordered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0">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1">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669280" y="6419088"/>
            <a:ext cx="5394960" cy="274320"/>
          </a:xfrm>
          <a:prstGeom prst="rect">
            <a:avLst/>
          </a:prstGeom>
          <a:noFill/>
          <a:ln/>
        </p:spPr>
        <p:txBody>
          <a:bodyPr wrap="square" lIns="0" tIns="0" rIns="0" bIns="0" rtlCol="0" anchor="ctr"/>
          <a:lstStyle/>
          <a:p>
            <a:pPr algn="r" indent="0" marL="0">
              <a:buNone/>
            </a:pPr>
            <a:r>
              <a:rPr lang="en-US" sz="1200" dirty="0">
                <a:solidFill>
                  <a:schemeClr val="tx2"/>
                </a:solidFill>
              </a:rPr>
              <a:t>Part 1 · An LLM can help, if its mistakes differ</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2">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669280" y="6419088"/>
            <a:ext cx="5394960" cy="274320"/>
          </a:xfrm>
          <a:prstGeom prst="rect">
            <a:avLst/>
          </a:prstGeom>
          <a:noFill/>
          <a:ln/>
        </p:spPr>
        <p:txBody>
          <a:bodyPr wrap="square" lIns="0" tIns="0" rIns="0" bIns="0" rtlCol="0" anchor="ctr"/>
          <a:lstStyle/>
          <a:p>
            <a:pPr algn="r" indent="0" marL="0">
              <a:buNone/>
            </a:pPr>
            <a:r>
              <a:rPr lang="en-US" sz="1200" dirty="0">
                <a:solidFill>
                  <a:schemeClr val="tx2"/>
                </a:solidFill>
              </a:rPr>
              <a:t>Part 2 · Three tests show our gain was not real</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3">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669280" y="6419088"/>
            <a:ext cx="5394960" cy="274320"/>
          </a:xfrm>
          <a:prstGeom prst="rect">
            <a:avLst/>
          </a:prstGeom>
          <a:noFill/>
          <a:ln/>
        </p:spPr>
        <p:txBody>
          <a:bodyPr wrap="square" lIns="0" tIns="0" rIns="0" bIns="0" rtlCol="0" anchor="ctr"/>
          <a:lstStyle/>
          <a:p>
            <a:pPr algn="r" indent="0" marL="0">
              <a:buNone/>
            </a:pPr>
            <a:r>
              <a:rPr lang="en-US" sz="1200" dirty="0">
                <a:solidFill>
                  <a:schemeClr val="tx2"/>
                </a:solidFill>
              </a:rPr>
              <a:t>Part 3 · You can run the same checks yourself</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4">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669280" y="6419088"/>
            <a:ext cx="5394960" cy="274320"/>
          </a:xfrm>
          <a:prstGeom prst="rect">
            <a:avLst/>
          </a:prstGeom>
          <a:noFill/>
          <a:ln/>
        </p:spPr>
        <p:txBody>
          <a:bodyPr wrap="square" lIns="0" tIns="0" rIns="0" bIns="0" rtlCol="0" anchor="ctr"/>
          <a:lstStyle/>
          <a:p>
            <a:pPr algn="r" indent="0" marL="0">
              <a:buNone/>
            </a:pPr>
            <a:r>
              <a:rPr lang="en-US" sz="1200" dirty="0">
                <a:solidFill>
                  <a:schemeClr val="tx2"/>
                </a:solidFill>
              </a:rPr>
              <a:t>Backup</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6858000" cy="24688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3931920"/>
            <a:ext cx="6858000" cy="73152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
        <p:nvSpPr>
          <p:cNvPr id="4" name="Text 0"/>
          <p:cNvSpPr/>
          <p:nvPr>
            <p:ph idx="102" type="body" hasCustomPrompt="1"/>
          </p:nvPr>
        </p:nvSpPr>
        <p:spPr>
          <a:xfrm>
            <a:off x="640080" y="4983480"/>
            <a:ext cx="6858000" cy="118872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slideLayout" Target="../slideLayouts/slideLayout7.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2.png"/><Relationship Id="rId7" Type="http://schemas.openxmlformats.org/officeDocument/2006/relationships/image" Target="../media/image-7-2.png"/><Relationship Id="rId8" Type="http://schemas.openxmlformats.org/officeDocument/2006/relationships/image" Target="../media/image-7-2.png"/><Relationship Id="rId9" Type="http://schemas.openxmlformats.org/officeDocument/2006/relationships/image" Target="../media/image-7-2.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2.png"/><Relationship Id="rId13" Type="http://schemas.openxmlformats.org/officeDocument/2006/relationships/image" Target="../media/image-7-2.png"/><Relationship Id="rId14" Type="http://schemas.openxmlformats.org/officeDocument/2006/relationships/slideLayout" Target="../slideLayouts/slideLayout3.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5.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6858000" cy="2468880"/>
          </a:xfrm>
          <a:prstGeom prst="rect">
            <a:avLst/>
          </a:prstGeom>
          <a:noFill/>
          <a:ln/>
        </p:spPr>
        <p:txBody>
          <a:bodyPr wrap="square" lIns="0" tIns="0" rIns="0" bIns="0" rtlCol="0" anchor="t"/>
          <a:lstStyle/>
          <a:p>
            <a:pPr algn="l" indent="0" marL="0">
              <a:buNone/>
            </a:pPr>
            <a:r>
              <a:rPr lang="en-US" sz="4000" b="1" dirty="0">
                <a:solidFill>
                  <a:schemeClr val="tx1"/>
                </a:solidFill>
              </a:rPr>
              <a:t>LLM Risk Rankers and Agentic Scaffolding</a:t>
            </a:r>
            <a:endParaRPr lang="en-US" sz="4000" dirty="0"/>
          </a:p>
        </p:txBody>
      </p:sp>
      <p:sp>
        <p:nvSpPr>
          <p:cNvPr id="3" name="Text 0"/>
          <p:cNvSpPr/>
          <p:nvPr>
            <p:ph idx="101" type="body" hasCustomPrompt="1"/>
          </p:nvPr>
        </p:nvSpPr>
        <p:spPr>
          <a:xfrm>
            <a:off x="640080" y="3931920"/>
            <a:ext cx="6858000" cy="731520"/>
          </a:xfrm>
          <a:prstGeom prst="rect">
            <a:avLst/>
          </a:prstGeom>
          <a:noFill/>
          <a:ln/>
        </p:spPr>
        <p:txBody>
          <a:bodyPr wrap="square" lIns="0" tIns="0" rIns="0" bIns="0" rtlCol="0" anchor="t"/>
          <a:lstStyle/>
          <a:p>
            <a:pPr algn="l" indent="0" marL="0">
              <a:buNone/>
            </a:pPr>
            <a:r>
              <a:rPr lang="en-US" sz="2200" dirty="0">
                <a:solidFill>
                  <a:schemeClr val="tx2"/>
                </a:solidFill>
              </a:rPr>
              <a:t>A case study for Liver Disease Survival Modeling</a:t>
            </a:r>
            <a:endParaRPr lang="en-US" sz="2200" dirty="0"/>
          </a:p>
        </p:txBody>
      </p:sp>
      <p:sp>
        <p:nvSpPr>
          <p:cNvPr id="4" name="Text 0"/>
          <p:cNvSpPr/>
          <p:nvPr>
            <p:ph idx="102" type="body" hasCustomPrompt="1"/>
          </p:nvPr>
        </p:nvSpPr>
        <p:spPr>
          <a:xfrm>
            <a:off x="640080" y="4983480"/>
            <a:ext cx="6858000" cy="1188720"/>
          </a:xfrm>
          <a:prstGeom prst="rect">
            <a:avLst/>
          </a:prstGeom>
          <a:noFill/>
          <a:ln/>
        </p:spPr>
        <p:txBody>
          <a:bodyPr wrap="square" lIns="0" tIns="0" rIns="0" bIns="0" rtlCol="0" anchor="t"/>
          <a:lstStyle/>
          <a:p>
            <a:pPr algn="l" indent="0" marL="0">
              <a:buNone/>
            </a:pPr>
            <a:r>
              <a:rPr lang="en-US" sz="1800" b="1" dirty="0">
                <a:solidFill>
                  <a:schemeClr val="tx1"/>
                </a:solidFill>
              </a:rPr>
              <a:t>Dr. Ronny Polle</a:t>
            </a:r>
            <a:endParaRPr lang="en-US" sz="1800" dirty="0"/>
          </a:p>
          <a:p>
            <a:pPr algn="l" indent="0" marL="0">
              <a:buNone/>
            </a:pPr>
            <a:r>
              <a:rPr lang="en-US" sz="1800" dirty="0">
                <a:solidFill>
                  <a:schemeClr val="tx1"/>
                </a:solidFill>
              </a:rPr>
              <a:t>AI Researcher</a:t>
            </a:r>
            <a:endParaRPr lang="en-US" sz="1800" dirty="0"/>
          </a:p>
          <a:p>
            <a:pPr algn="l" indent="0" marL="0">
              <a:buNone/>
            </a:pPr>
            <a:r>
              <a:rPr lang="en-US" sz="1800" dirty="0">
                <a:solidFill>
                  <a:schemeClr val="tx1"/>
                </a:solidFill>
              </a:rPr>
              <a:t>GAIN Monthly Webinar</a:t>
            </a:r>
            <a:endParaRPr lang="en-US" sz="1800" dirty="0"/>
          </a:p>
        </p:txBody>
      </p:sp>
      <p:pic>
        <p:nvPicPr>
          <p:cNvPr id="5" name="Image 0" descr="Pictogram of a patient">    </p:cNvPr>
          <p:cNvPicPr>
            <a:picLocks noChangeAspect="1"/>
          </p:cNvPicPr>
          <p:nvPr/>
        </p:nvPicPr>
        <p:blipFill>
          <a:blip r:embed="rId1"/>
          <a:stretch>
            <a:fillRect/>
          </a:stretch>
        </p:blipFill>
        <p:spPr>
          <a:xfrm>
            <a:off x="7955280" y="1417320"/>
            <a:ext cx="868680" cy="868680"/>
          </a:xfrm>
          <a:prstGeom prst="rect">
            <a:avLst/>
          </a:prstGeom>
        </p:spPr>
      </p:pic>
      <p:sp>
        <p:nvSpPr>
          <p:cNvPr id="6" name="Shape 3"/>
          <p:cNvSpPr/>
          <p:nvPr/>
        </p:nvSpPr>
        <p:spPr>
          <a:xfrm>
            <a:off x="9098280" y="1828800"/>
            <a:ext cx="1463040" cy="146304"/>
          </a:xfrm>
          <a:prstGeom prst="roundRect">
            <a:avLst>
              <a:gd name="adj" fmla="val 50000"/>
            </a:avLst>
          </a:prstGeom>
          <a:solidFill>
            <a:srgbClr val="DDE3E9"/>
          </a:solidFill>
          <a:ln w="12700">
            <a:solidFill>
              <a:srgbClr val="DDE3E9"/>
            </a:solidFill>
            <a:prstDash val="solid"/>
          </a:ln>
        </p:spPr>
      </p:sp>
      <p:sp>
        <p:nvSpPr>
          <p:cNvPr id="7" name="Shape 4"/>
          <p:cNvSpPr/>
          <p:nvPr/>
        </p:nvSpPr>
        <p:spPr>
          <a:xfrm>
            <a:off x="9372600" y="1719072"/>
            <a:ext cx="0" cy="365760"/>
          </a:xfrm>
          <a:prstGeom prst="line">
            <a:avLst/>
          </a:prstGeom>
          <a:noFill/>
          <a:ln w="25400">
            <a:solidFill>
              <a:srgbClr val="1F2933"/>
            </a:solidFill>
            <a:prstDash val="solid"/>
          </a:ln>
        </p:spPr>
      </p:sp>
      <p:sp>
        <p:nvSpPr>
          <p:cNvPr id="8" name="Shape 5"/>
          <p:cNvSpPr/>
          <p:nvPr/>
        </p:nvSpPr>
        <p:spPr>
          <a:xfrm>
            <a:off x="9921240" y="1719072"/>
            <a:ext cx="0" cy="365760"/>
          </a:xfrm>
          <a:prstGeom prst="line">
            <a:avLst/>
          </a:prstGeom>
          <a:noFill/>
          <a:ln w="25400">
            <a:solidFill>
              <a:srgbClr val="1F2933"/>
            </a:solidFill>
            <a:prstDash val="solid"/>
          </a:ln>
        </p:spPr>
      </p:sp>
      <p:sp>
        <p:nvSpPr>
          <p:cNvPr id="9" name="Shape 6"/>
          <p:cNvSpPr/>
          <p:nvPr/>
        </p:nvSpPr>
        <p:spPr>
          <a:xfrm>
            <a:off x="10469880" y="1719072"/>
            <a:ext cx="0" cy="365760"/>
          </a:xfrm>
          <a:prstGeom prst="line">
            <a:avLst/>
          </a:prstGeom>
          <a:noFill/>
          <a:ln w="25400">
            <a:solidFill>
              <a:srgbClr val="1F2933"/>
            </a:solidFill>
            <a:prstDash val="solid"/>
          </a:ln>
        </p:spPr>
      </p:sp>
      <p:sp>
        <p:nvSpPr>
          <p:cNvPr id="10" name="Shape 7"/>
          <p:cNvSpPr/>
          <p:nvPr/>
        </p:nvSpPr>
        <p:spPr>
          <a:xfrm>
            <a:off x="10405872" y="1746504"/>
            <a:ext cx="310896" cy="310896"/>
          </a:xfrm>
          <a:prstGeom prst="line">
            <a:avLst/>
          </a:prstGeom>
          <a:noFill/>
          <a:ln w="50800">
            <a:solidFill>
              <a:srgbClr val="D55E00"/>
            </a:solidFill>
            <a:prstDash val="solid"/>
          </a:ln>
        </p:spPr>
      </p:sp>
      <p:sp>
        <p:nvSpPr>
          <p:cNvPr id="11" name="Shape 8"/>
          <p:cNvSpPr/>
          <p:nvPr/>
        </p:nvSpPr>
        <p:spPr>
          <a:xfrm flipV="1">
            <a:off x="10405872" y="1746504"/>
            <a:ext cx="310896" cy="310896"/>
          </a:xfrm>
          <a:prstGeom prst="line">
            <a:avLst/>
          </a:prstGeom>
          <a:noFill/>
          <a:ln w="50800">
            <a:solidFill>
              <a:srgbClr val="D55E00"/>
            </a:solidFill>
            <a:prstDash val="solid"/>
          </a:ln>
        </p:spPr>
      </p:sp>
      <p:pic>
        <p:nvPicPr>
          <p:cNvPr id="12" name="Image 1" descr="Pictogram of a patient">    </p:cNvPr>
          <p:cNvPicPr>
            <a:picLocks noChangeAspect="1"/>
          </p:cNvPicPr>
          <p:nvPr/>
        </p:nvPicPr>
        <p:blipFill>
          <a:blip r:embed="rId2"/>
          <a:stretch>
            <a:fillRect/>
          </a:stretch>
        </p:blipFill>
        <p:spPr>
          <a:xfrm>
            <a:off x="7955280" y="2834640"/>
            <a:ext cx="868680" cy="868680"/>
          </a:xfrm>
          <a:prstGeom prst="rect">
            <a:avLst/>
          </a:prstGeom>
        </p:spPr>
      </p:pic>
      <p:sp>
        <p:nvSpPr>
          <p:cNvPr id="13" name="Shape 9"/>
          <p:cNvSpPr/>
          <p:nvPr/>
        </p:nvSpPr>
        <p:spPr>
          <a:xfrm>
            <a:off x="9098280" y="3246120"/>
            <a:ext cx="2560320" cy="146304"/>
          </a:xfrm>
          <a:prstGeom prst="roundRect">
            <a:avLst>
              <a:gd name="adj" fmla="val 50000"/>
            </a:avLst>
          </a:prstGeom>
          <a:solidFill>
            <a:srgbClr val="DDE3E9"/>
          </a:solidFill>
          <a:ln w="12700">
            <a:solidFill>
              <a:srgbClr val="DDE3E9"/>
            </a:solidFill>
            <a:prstDash val="solid"/>
          </a:ln>
        </p:spPr>
      </p:sp>
      <p:sp>
        <p:nvSpPr>
          <p:cNvPr id="14" name="Shape 10"/>
          <p:cNvSpPr/>
          <p:nvPr/>
        </p:nvSpPr>
        <p:spPr>
          <a:xfrm>
            <a:off x="9281160" y="3136392"/>
            <a:ext cx="0" cy="365760"/>
          </a:xfrm>
          <a:prstGeom prst="line">
            <a:avLst/>
          </a:prstGeom>
          <a:noFill/>
          <a:ln w="25400">
            <a:solidFill>
              <a:srgbClr val="1F2933"/>
            </a:solidFill>
            <a:prstDash val="solid"/>
          </a:ln>
        </p:spPr>
      </p:sp>
      <p:sp>
        <p:nvSpPr>
          <p:cNvPr id="15" name="Shape 11"/>
          <p:cNvSpPr/>
          <p:nvPr/>
        </p:nvSpPr>
        <p:spPr>
          <a:xfrm>
            <a:off x="9692640" y="3136392"/>
            <a:ext cx="0" cy="365760"/>
          </a:xfrm>
          <a:prstGeom prst="line">
            <a:avLst/>
          </a:prstGeom>
          <a:noFill/>
          <a:ln w="25400">
            <a:solidFill>
              <a:srgbClr val="1F2933"/>
            </a:solidFill>
            <a:prstDash val="solid"/>
          </a:ln>
        </p:spPr>
      </p:sp>
      <p:sp>
        <p:nvSpPr>
          <p:cNvPr id="16" name="Shape 12"/>
          <p:cNvSpPr/>
          <p:nvPr/>
        </p:nvSpPr>
        <p:spPr>
          <a:xfrm>
            <a:off x="10104120" y="3136392"/>
            <a:ext cx="0" cy="365760"/>
          </a:xfrm>
          <a:prstGeom prst="line">
            <a:avLst/>
          </a:prstGeom>
          <a:noFill/>
          <a:ln w="25400">
            <a:solidFill>
              <a:srgbClr val="1F2933"/>
            </a:solidFill>
            <a:prstDash val="solid"/>
          </a:ln>
        </p:spPr>
      </p:sp>
      <p:sp>
        <p:nvSpPr>
          <p:cNvPr id="17" name="Shape 13"/>
          <p:cNvSpPr/>
          <p:nvPr/>
        </p:nvSpPr>
        <p:spPr>
          <a:xfrm>
            <a:off x="10469880" y="3136392"/>
            <a:ext cx="0" cy="365760"/>
          </a:xfrm>
          <a:prstGeom prst="line">
            <a:avLst/>
          </a:prstGeom>
          <a:noFill/>
          <a:ln w="25400">
            <a:solidFill>
              <a:srgbClr val="1F2933"/>
            </a:solidFill>
            <a:prstDash val="solid"/>
          </a:ln>
        </p:spPr>
      </p:sp>
      <p:sp>
        <p:nvSpPr>
          <p:cNvPr id="18" name="Shape 14"/>
          <p:cNvSpPr/>
          <p:nvPr/>
        </p:nvSpPr>
        <p:spPr>
          <a:xfrm>
            <a:off x="10789920" y="3136392"/>
            <a:ext cx="0" cy="365760"/>
          </a:xfrm>
          <a:prstGeom prst="line">
            <a:avLst/>
          </a:prstGeom>
          <a:noFill/>
          <a:ln w="25400">
            <a:solidFill>
              <a:srgbClr val="1F2933"/>
            </a:solidFill>
            <a:prstDash val="solid"/>
          </a:ln>
        </p:spPr>
      </p:sp>
      <p:sp>
        <p:nvSpPr>
          <p:cNvPr id="19" name="Shape 15"/>
          <p:cNvSpPr/>
          <p:nvPr/>
        </p:nvSpPr>
        <p:spPr>
          <a:xfrm>
            <a:off x="11201400" y="3136392"/>
            <a:ext cx="0" cy="365760"/>
          </a:xfrm>
          <a:prstGeom prst="line">
            <a:avLst/>
          </a:prstGeom>
          <a:noFill/>
          <a:ln w="25400">
            <a:solidFill>
              <a:srgbClr val="1F2933"/>
            </a:solidFill>
            <a:prstDash val="solid"/>
          </a:ln>
        </p:spPr>
      </p:sp>
      <p:sp>
        <p:nvSpPr>
          <p:cNvPr id="20" name="Shape 16"/>
          <p:cNvSpPr/>
          <p:nvPr/>
        </p:nvSpPr>
        <p:spPr>
          <a:xfrm>
            <a:off x="11475720" y="3136392"/>
            <a:ext cx="0" cy="365760"/>
          </a:xfrm>
          <a:prstGeom prst="line">
            <a:avLst/>
          </a:prstGeom>
          <a:noFill/>
          <a:ln w="25400">
            <a:solidFill>
              <a:srgbClr val="1F2933"/>
            </a:solidFill>
            <a:prstDash val="solid"/>
          </a:ln>
        </p:spPr>
      </p:sp>
      <p:sp>
        <p:nvSpPr>
          <p:cNvPr id="21" name="Shape 17"/>
          <p:cNvSpPr/>
          <p:nvPr/>
        </p:nvSpPr>
        <p:spPr>
          <a:xfrm>
            <a:off x="11503152" y="3163824"/>
            <a:ext cx="310896" cy="310896"/>
          </a:xfrm>
          <a:prstGeom prst="ellipse">
            <a:avLst/>
          </a:prstGeom>
          <a:solidFill>
            <a:srgbClr val="FFFFFF"/>
          </a:solidFill>
          <a:ln w="44450">
            <a:solidFill>
              <a:srgbClr val="0072B2"/>
            </a:solidFill>
            <a:prstDash val="solid"/>
          </a:ln>
        </p:spPr>
      </p:sp>
      <p:pic>
        <p:nvPicPr>
          <p:cNvPr id="22" name="Image 2" descr="Pictogram of a patient">    </p:cNvPr>
          <p:cNvPicPr>
            <a:picLocks noChangeAspect="1"/>
          </p:cNvPicPr>
          <p:nvPr/>
        </p:nvPicPr>
        <p:blipFill>
          <a:blip r:embed="rId3"/>
          <a:stretch>
            <a:fillRect/>
          </a:stretch>
        </p:blipFill>
        <p:spPr>
          <a:xfrm>
            <a:off x="7955280" y="4251960"/>
            <a:ext cx="868680" cy="868680"/>
          </a:xfrm>
          <a:prstGeom prst="rect">
            <a:avLst/>
          </a:prstGeom>
        </p:spPr>
      </p:pic>
      <p:sp>
        <p:nvSpPr>
          <p:cNvPr id="23" name="Shape 18"/>
          <p:cNvSpPr/>
          <p:nvPr/>
        </p:nvSpPr>
        <p:spPr>
          <a:xfrm>
            <a:off x="9098280" y="4663440"/>
            <a:ext cx="1920240" cy="146304"/>
          </a:xfrm>
          <a:prstGeom prst="roundRect">
            <a:avLst>
              <a:gd name="adj" fmla="val 50000"/>
            </a:avLst>
          </a:prstGeom>
          <a:solidFill>
            <a:srgbClr val="DDE3E9"/>
          </a:solidFill>
          <a:ln w="12700">
            <a:solidFill>
              <a:srgbClr val="DDE3E9"/>
            </a:solidFill>
            <a:prstDash val="solid"/>
          </a:ln>
        </p:spPr>
      </p:sp>
      <p:sp>
        <p:nvSpPr>
          <p:cNvPr id="24" name="Shape 19"/>
          <p:cNvSpPr/>
          <p:nvPr/>
        </p:nvSpPr>
        <p:spPr>
          <a:xfrm>
            <a:off x="9464040" y="4553712"/>
            <a:ext cx="0" cy="365760"/>
          </a:xfrm>
          <a:prstGeom prst="line">
            <a:avLst/>
          </a:prstGeom>
          <a:noFill/>
          <a:ln w="25400">
            <a:solidFill>
              <a:srgbClr val="1F2933"/>
            </a:solidFill>
            <a:prstDash val="solid"/>
          </a:ln>
        </p:spPr>
      </p:sp>
      <p:sp>
        <p:nvSpPr>
          <p:cNvPr id="25" name="Shape 20"/>
          <p:cNvSpPr/>
          <p:nvPr/>
        </p:nvSpPr>
        <p:spPr>
          <a:xfrm>
            <a:off x="9966960" y="4553712"/>
            <a:ext cx="0" cy="365760"/>
          </a:xfrm>
          <a:prstGeom prst="line">
            <a:avLst/>
          </a:prstGeom>
          <a:noFill/>
          <a:ln w="25400">
            <a:solidFill>
              <a:srgbClr val="1F2933"/>
            </a:solidFill>
            <a:prstDash val="solid"/>
          </a:ln>
        </p:spPr>
      </p:sp>
      <p:sp>
        <p:nvSpPr>
          <p:cNvPr id="26" name="Shape 21"/>
          <p:cNvSpPr/>
          <p:nvPr/>
        </p:nvSpPr>
        <p:spPr>
          <a:xfrm>
            <a:off x="10515600" y="4553712"/>
            <a:ext cx="0" cy="365760"/>
          </a:xfrm>
          <a:prstGeom prst="line">
            <a:avLst/>
          </a:prstGeom>
          <a:noFill/>
          <a:ln w="25400">
            <a:solidFill>
              <a:srgbClr val="1F2933"/>
            </a:solidFill>
            <a:prstDash val="solid"/>
          </a:ln>
        </p:spPr>
      </p:sp>
      <p:sp>
        <p:nvSpPr>
          <p:cNvPr id="27" name="Shape 22"/>
          <p:cNvSpPr/>
          <p:nvPr/>
        </p:nvSpPr>
        <p:spPr>
          <a:xfrm>
            <a:off x="10863072" y="4581144"/>
            <a:ext cx="310896" cy="310896"/>
          </a:xfrm>
          <a:prstGeom prst="ellipse">
            <a:avLst/>
          </a:prstGeom>
          <a:solidFill>
            <a:srgbClr val="FFFFFF"/>
          </a:solidFill>
          <a:ln w="44450">
            <a:solidFill>
              <a:srgbClr val="0072B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Three questions: can an LLM help,</a:t>
            </a:r>
            <a:endParaRPr lang="en-US" sz="2800" dirty="0"/>
          </a:p>
          <a:p>
            <a:pPr algn="l" indent="0" marL="0">
              <a:buNone/>
            </a:pPr>
            <a:r>
              <a:rPr lang="en-US" sz="2800" b="1" dirty="0">
                <a:solidFill>
                  <a:schemeClr val="tx1"/>
                </a:solidFill>
              </a:rPr>
              <a:t>did ours, and how would you check?</a:t>
            </a:r>
            <a:endParaRPr lang="en-US" sz="2800" dirty="0"/>
          </a:p>
        </p:txBody>
      </p:sp>
      <p:pic>
        <p:nvPicPr>
          <p:cNvPr id="3" name="Image 0" descr="Preview of slide 11, the key slide for part 1">    </p:cNvPr>
          <p:cNvPicPr>
            <a:picLocks noChangeAspect="1"/>
          </p:cNvPicPr>
          <p:nvPr/>
        </p:nvPicPr>
        <p:blipFill>
          <a:blip r:embed="rId1"/>
          <a:stretch>
            <a:fillRect/>
          </a:stretch>
        </p:blipFill>
        <p:spPr>
          <a:xfrm>
            <a:off x="548640" y="1600200"/>
            <a:ext cx="2194560" cy="1234440"/>
          </a:xfrm>
          <a:prstGeom prst="rect">
            <a:avLst/>
          </a:prstGeom>
        </p:spPr>
      </p:pic>
      <p:sp>
        <p:nvSpPr>
          <p:cNvPr id="4" name="Shape 1"/>
          <p:cNvSpPr/>
          <p:nvPr/>
        </p:nvSpPr>
        <p:spPr>
          <a:xfrm>
            <a:off x="548640" y="1600200"/>
            <a:ext cx="2194560" cy="1234440"/>
          </a:xfrm>
          <a:prstGeom prst="rect">
            <a:avLst/>
          </a:prstGeom>
          <a:solidFill>
            <a:srgbClr val="FFFFFF">
              <a:alpha val="0"/>
            </a:srgbClr>
          </a:solidFill>
          <a:ln w="12700">
            <a:solidFill>
              <a:srgbClr val="DDE3E9"/>
            </a:solidFill>
            <a:prstDash val="solid"/>
          </a:ln>
        </p:spPr>
      </p:sp>
      <p:sp>
        <p:nvSpPr>
          <p:cNvPr id="5" name="Text 2"/>
          <p:cNvSpPr txBox="1"/>
          <p:nvPr/>
        </p:nvSpPr>
        <p:spPr>
          <a:xfrm>
            <a:off x="3063240" y="1965960"/>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3794760" y="1600200"/>
            <a:ext cx="7818120" cy="1234440"/>
          </a:xfrm>
          <a:prstGeom prst="rect">
            <a:avLst/>
          </a:prstGeom>
          <a:noFill/>
          <a:ln/>
        </p:spPr>
        <p:txBody>
          <a:bodyPr wrap="square" lIns="0" tIns="0" rIns="0" bIns="0" rtlCol="0" anchor="ctr"/>
          <a:lstStyle/>
          <a:p>
            <a:pPr indent="0" marL="0">
              <a:buNone/>
            </a:pPr>
            <a:r>
              <a:rPr lang="en-US" sz="2800" b="1" dirty="0">
                <a:solidFill>
                  <a:schemeClr val="tx1"/>
                </a:solidFill>
              </a:rPr>
              <a:t>An LLM can help, if its mistakes differ</a:t>
            </a:r>
            <a:endParaRPr lang="en-US" sz="2800" dirty="0"/>
          </a:p>
        </p:txBody>
      </p:sp>
      <p:pic>
        <p:nvPicPr>
          <p:cNvPr id="7" name="Image 1" descr="Preview of slide 18, the key slide for part 2">    </p:cNvPr>
          <p:cNvPicPr>
            <a:picLocks noChangeAspect="1"/>
          </p:cNvPicPr>
          <p:nvPr/>
        </p:nvPicPr>
        <p:blipFill>
          <a:blip r:embed="rId2"/>
          <a:stretch>
            <a:fillRect/>
          </a:stretch>
        </p:blipFill>
        <p:spPr>
          <a:xfrm>
            <a:off x="548640" y="3063240"/>
            <a:ext cx="2194560" cy="1234440"/>
          </a:xfrm>
          <a:prstGeom prst="rect">
            <a:avLst/>
          </a:prstGeom>
        </p:spPr>
      </p:pic>
      <p:sp>
        <p:nvSpPr>
          <p:cNvPr id="8" name="Shape 4"/>
          <p:cNvSpPr/>
          <p:nvPr/>
        </p:nvSpPr>
        <p:spPr>
          <a:xfrm>
            <a:off x="548640" y="3063240"/>
            <a:ext cx="2194560" cy="1234440"/>
          </a:xfrm>
          <a:prstGeom prst="rect">
            <a:avLst/>
          </a:prstGeom>
          <a:solidFill>
            <a:srgbClr val="FFFFFF">
              <a:alpha val="0"/>
            </a:srgbClr>
          </a:solidFill>
          <a:ln w="12700">
            <a:solidFill>
              <a:srgbClr val="DDE3E9"/>
            </a:solidFill>
            <a:prstDash val="solid"/>
          </a:ln>
        </p:spPr>
      </p:sp>
      <p:sp>
        <p:nvSpPr>
          <p:cNvPr id="9" name="Text 5"/>
          <p:cNvSpPr txBox="1"/>
          <p:nvPr/>
        </p:nvSpPr>
        <p:spPr>
          <a:xfrm>
            <a:off x="3063240" y="3429000"/>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6"/>
          <p:cNvSpPr txBox="1"/>
          <p:nvPr/>
        </p:nvSpPr>
        <p:spPr>
          <a:xfrm>
            <a:off x="3794760" y="3063240"/>
            <a:ext cx="7818120" cy="1234440"/>
          </a:xfrm>
          <a:prstGeom prst="rect">
            <a:avLst/>
          </a:prstGeom>
          <a:noFill/>
          <a:ln/>
        </p:spPr>
        <p:txBody>
          <a:bodyPr wrap="square" lIns="0" tIns="0" rIns="0" bIns="0" rtlCol="0" anchor="ctr"/>
          <a:lstStyle/>
          <a:p>
            <a:pPr indent="0" marL="0">
              <a:buNone/>
            </a:pPr>
            <a:r>
              <a:rPr lang="en-US" sz="2800" b="1" dirty="0">
                <a:solidFill>
                  <a:schemeClr val="tx1"/>
                </a:solidFill>
              </a:rPr>
              <a:t>Three tests show our gain was not real</a:t>
            </a:r>
            <a:endParaRPr lang="en-US" sz="2800" dirty="0"/>
          </a:p>
        </p:txBody>
      </p:sp>
      <p:pic>
        <p:nvPicPr>
          <p:cNvPr id="11" name="Image 2" descr="Preview of slide 24, the key slide for part 3">    </p:cNvPr>
          <p:cNvPicPr>
            <a:picLocks noChangeAspect="1"/>
          </p:cNvPicPr>
          <p:nvPr/>
        </p:nvPicPr>
        <p:blipFill>
          <a:blip r:embed="rId3"/>
          <a:stretch>
            <a:fillRect/>
          </a:stretch>
        </p:blipFill>
        <p:spPr>
          <a:xfrm>
            <a:off x="548640" y="4526280"/>
            <a:ext cx="2194560" cy="1234440"/>
          </a:xfrm>
          <a:prstGeom prst="rect">
            <a:avLst/>
          </a:prstGeom>
        </p:spPr>
      </p:pic>
      <p:sp>
        <p:nvSpPr>
          <p:cNvPr id="12" name="Shape 7"/>
          <p:cNvSpPr/>
          <p:nvPr/>
        </p:nvSpPr>
        <p:spPr>
          <a:xfrm>
            <a:off x="548640" y="4526280"/>
            <a:ext cx="2194560" cy="1234440"/>
          </a:xfrm>
          <a:prstGeom prst="rect">
            <a:avLst/>
          </a:prstGeom>
          <a:solidFill>
            <a:srgbClr val="FFFFFF">
              <a:alpha val="0"/>
            </a:srgbClr>
          </a:solidFill>
          <a:ln w="12700">
            <a:solidFill>
              <a:srgbClr val="DDE3E9"/>
            </a:solidFill>
            <a:prstDash val="solid"/>
          </a:ln>
        </p:spPr>
      </p:sp>
      <p:sp>
        <p:nvSpPr>
          <p:cNvPr id="13" name="Text 8"/>
          <p:cNvSpPr txBox="1"/>
          <p:nvPr/>
        </p:nvSpPr>
        <p:spPr>
          <a:xfrm>
            <a:off x="3063240" y="4892040"/>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9"/>
          <p:cNvSpPr txBox="1"/>
          <p:nvPr/>
        </p:nvSpPr>
        <p:spPr>
          <a:xfrm>
            <a:off x="3794760" y="4526280"/>
            <a:ext cx="7818120" cy="1234440"/>
          </a:xfrm>
          <a:prstGeom prst="rect">
            <a:avLst/>
          </a:prstGeom>
          <a:noFill/>
          <a:ln/>
        </p:spPr>
        <p:txBody>
          <a:bodyPr wrap="square" lIns="0" tIns="0" rIns="0" bIns="0" rtlCol="0" anchor="ctr"/>
          <a:lstStyle/>
          <a:p>
            <a:pPr indent="0" marL="0">
              <a:buNone/>
            </a:pPr>
            <a:r>
              <a:rPr lang="en-US" sz="2800" b="1" dirty="0">
                <a:solidFill>
                  <a:schemeClr val="tx1"/>
                </a:solidFill>
              </a:rPr>
              <a:t>You can run the same checks yourself</a:t>
            </a:r>
            <a:endParaRPr lang="en-US" sz="2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An LLM ranks patients worse alone,</a:t>
            </a:r>
            <a:endParaRPr lang="en-US" sz="2800" dirty="0"/>
          </a:p>
          <a:p>
            <a:pPr algn="l" indent="0" marL="0">
              <a:buNone/>
            </a:pPr>
            <a:r>
              <a:rPr lang="en-US" sz="2800" b="1" dirty="0">
                <a:solidFill>
                  <a:schemeClr val="tx1"/>
                </a:solidFill>
              </a:rPr>
              <a:t>yet seemed to improve our strong model</a:t>
            </a:r>
            <a:endParaRPr lang="en-US" sz="2800" dirty="0"/>
          </a:p>
        </p:txBody>
      </p:sp>
      <p:sp>
        <p:nvSpPr>
          <p:cNvPr id="3" name="Text 1"/>
          <p:cNvSpPr txBox="1"/>
          <p:nvPr/>
        </p:nvSpPr>
        <p:spPr>
          <a:xfrm>
            <a:off x="548640" y="2743200"/>
            <a:ext cx="2377440" cy="1371600"/>
          </a:xfrm>
          <a:prstGeom prst="roundRect">
            <a:avLst>
              <a:gd name="adj" fmla="val 6667"/>
            </a:avLst>
          </a:prstGeom>
          <a:solidFill>
            <a:schemeClr val="bg1"/>
          </a:solidFill>
          <a:ln w="19050">
            <a:solidFill>
              <a:srgbClr val="6B7785"/>
            </a:solidFill>
          </a:ln>
        </p:spPr>
        <p:txBody>
          <a:bodyPr wrap="square" lIns="1016" tIns="1016" rIns="1016" bIns="1016" rtlCol="0" anchor="ctr"/>
          <a:lstStyle/>
          <a:p>
            <a:pPr algn="ctr" indent="0" marL="0">
              <a:buNone/>
            </a:pPr>
            <a:endParaRPr lang="en-US" dirty="0"/>
          </a:p>
        </p:txBody>
      </p:sp>
      <p:pic>
        <p:nvPicPr>
          <p:cNvPr id="4" name="Image 0" descr="Pictogram of a patient">    </p:cNvPr>
          <p:cNvPicPr>
            <a:picLocks noChangeAspect="1"/>
          </p:cNvPicPr>
          <p:nvPr/>
        </p:nvPicPr>
        <p:blipFill>
          <a:blip r:embed="rId1"/>
          <a:stretch>
            <a:fillRect/>
          </a:stretch>
        </p:blipFill>
        <p:spPr>
          <a:xfrm>
            <a:off x="731520" y="2852928"/>
            <a:ext cx="548640" cy="548640"/>
          </a:xfrm>
          <a:prstGeom prst="rect">
            <a:avLst/>
          </a:prstGeom>
        </p:spPr>
      </p:pic>
      <p:sp>
        <p:nvSpPr>
          <p:cNvPr id="5" name="Shape 2"/>
          <p:cNvSpPr/>
          <p:nvPr/>
        </p:nvSpPr>
        <p:spPr>
          <a:xfrm>
            <a:off x="1417320" y="3054096"/>
            <a:ext cx="1143000" cy="146304"/>
          </a:xfrm>
          <a:prstGeom prst="roundRect">
            <a:avLst>
              <a:gd name="adj" fmla="val 50000"/>
            </a:avLst>
          </a:prstGeom>
          <a:solidFill>
            <a:srgbClr val="DDE3E9"/>
          </a:solidFill>
          <a:ln w="12700">
            <a:solidFill>
              <a:srgbClr val="DDE3E9"/>
            </a:solidFill>
            <a:prstDash val="solid"/>
          </a:ln>
        </p:spPr>
      </p:sp>
      <p:sp>
        <p:nvSpPr>
          <p:cNvPr id="6" name="Shape 3"/>
          <p:cNvSpPr/>
          <p:nvPr/>
        </p:nvSpPr>
        <p:spPr>
          <a:xfrm>
            <a:off x="1600200" y="2944368"/>
            <a:ext cx="0" cy="365760"/>
          </a:xfrm>
          <a:prstGeom prst="line">
            <a:avLst/>
          </a:prstGeom>
          <a:noFill/>
          <a:ln w="25400">
            <a:solidFill>
              <a:srgbClr val="1F2933"/>
            </a:solidFill>
            <a:prstDash val="solid"/>
          </a:ln>
        </p:spPr>
      </p:sp>
      <p:sp>
        <p:nvSpPr>
          <p:cNvPr id="7" name="Shape 4"/>
          <p:cNvSpPr/>
          <p:nvPr/>
        </p:nvSpPr>
        <p:spPr>
          <a:xfrm>
            <a:off x="1920240" y="2944368"/>
            <a:ext cx="0" cy="365760"/>
          </a:xfrm>
          <a:prstGeom prst="line">
            <a:avLst/>
          </a:prstGeom>
          <a:noFill/>
          <a:ln w="25400">
            <a:solidFill>
              <a:srgbClr val="1F2933"/>
            </a:solidFill>
            <a:prstDash val="solid"/>
          </a:ln>
        </p:spPr>
      </p:sp>
      <p:sp>
        <p:nvSpPr>
          <p:cNvPr id="8" name="Shape 5"/>
          <p:cNvSpPr/>
          <p:nvPr/>
        </p:nvSpPr>
        <p:spPr>
          <a:xfrm>
            <a:off x="2240280" y="2944368"/>
            <a:ext cx="0" cy="365760"/>
          </a:xfrm>
          <a:prstGeom prst="line">
            <a:avLst/>
          </a:prstGeom>
          <a:noFill/>
          <a:ln w="25400">
            <a:solidFill>
              <a:srgbClr val="1F2933"/>
            </a:solidFill>
            <a:prstDash val="solid"/>
          </a:ln>
        </p:spPr>
      </p:sp>
      <p:sp>
        <p:nvSpPr>
          <p:cNvPr id="9" name="Shape 6"/>
          <p:cNvSpPr/>
          <p:nvPr/>
        </p:nvSpPr>
        <p:spPr>
          <a:xfrm>
            <a:off x="2404872" y="2971800"/>
            <a:ext cx="310896" cy="310896"/>
          </a:xfrm>
          <a:prstGeom prst="line">
            <a:avLst/>
          </a:prstGeom>
          <a:noFill/>
          <a:ln w="50800">
            <a:solidFill>
              <a:srgbClr val="D55E00"/>
            </a:solidFill>
            <a:prstDash val="solid"/>
          </a:ln>
        </p:spPr>
      </p:sp>
      <p:sp>
        <p:nvSpPr>
          <p:cNvPr id="10" name="Shape 7"/>
          <p:cNvSpPr/>
          <p:nvPr/>
        </p:nvSpPr>
        <p:spPr>
          <a:xfrm flipV="1">
            <a:off x="2404872" y="2971800"/>
            <a:ext cx="310896" cy="310896"/>
          </a:xfrm>
          <a:prstGeom prst="line">
            <a:avLst/>
          </a:prstGeom>
          <a:noFill/>
          <a:ln w="50800">
            <a:solidFill>
              <a:srgbClr val="D55E00"/>
            </a:solidFill>
            <a:prstDash val="solid"/>
          </a:ln>
        </p:spPr>
      </p:sp>
      <p:sp>
        <p:nvSpPr>
          <p:cNvPr id="11" name="Text 8"/>
          <p:cNvSpPr txBox="1"/>
          <p:nvPr/>
        </p:nvSpPr>
        <p:spPr>
          <a:xfrm>
            <a:off x="548640" y="3474720"/>
            <a:ext cx="2377440" cy="502920"/>
          </a:xfrm>
          <a:prstGeom prst="rect">
            <a:avLst/>
          </a:prstGeom>
          <a:noFill/>
          <a:ln/>
        </p:spPr>
        <p:txBody>
          <a:bodyPr wrap="square" lIns="0" tIns="0" rIns="0" bIns="0" rtlCol="0" anchor="ctr"/>
          <a:lstStyle/>
          <a:p>
            <a:pPr algn="ctr" indent="0" marL="0">
              <a:buNone/>
            </a:pPr>
            <a:r>
              <a:rPr lang="en-US" sz="2200" b="1" dirty="0">
                <a:solidFill>
                  <a:schemeClr val="tx1"/>
                </a:solidFill>
              </a:rPr>
              <a:t>Patient record</a:t>
            </a:r>
            <a:endParaRPr lang="en-US" sz="2200" dirty="0"/>
          </a:p>
        </p:txBody>
      </p:sp>
      <p:sp>
        <p:nvSpPr>
          <p:cNvPr id="12" name="Text 9"/>
          <p:cNvSpPr txBox="1"/>
          <p:nvPr/>
        </p:nvSpPr>
        <p:spPr>
          <a:xfrm>
            <a:off x="3931920" y="1737360"/>
            <a:ext cx="2926080" cy="1371600"/>
          </a:xfrm>
          <a:prstGeom prst="roundRect">
            <a:avLst>
              <a:gd name="adj" fmla="val 6667"/>
            </a:avLst>
          </a:prstGeom>
          <a:solidFill>
            <a:schemeClr val="accent1"/>
          </a:solidFill>
          <a:ln>
            <a:solidFill>
              <a:schemeClr val="accent1"/>
            </a:solidFill>
          </a:ln>
        </p:spPr>
        <p:txBody>
          <a:bodyPr wrap="square" lIns="1016" tIns="1016" rIns="1016" bIns="1016" rtlCol="0" anchor="ctr"/>
          <a:lstStyle/>
          <a:p>
            <a:pPr algn="ctr" indent="0" marL="0">
              <a:buNone/>
            </a:pPr>
            <a:endParaRPr lang="en-US" dirty="0"/>
          </a:p>
        </p:txBody>
      </p:sp>
      <p:pic>
        <p:nvPicPr>
          <p:cNvPr id="13" name="Image 1" descr="Tree icon">    </p:cNvPr>
          <p:cNvPicPr>
            <a:picLocks noChangeAspect="1"/>
          </p:cNvPicPr>
          <p:nvPr/>
        </p:nvPicPr>
        <p:blipFill>
          <a:blip r:embed="rId2"/>
          <a:stretch>
            <a:fillRect/>
          </a:stretch>
        </p:blipFill>
        <p:spPr>
          <a:xfrm>
            <a:off x="4114800" y="2057400"/>
            <a:ext cx="731520" cy="731520"/>
          </a:xfrm>
          <a:prstGeom prst="rect">
            <a:avLst/>
          </a:prstGeom>
        </p:spPr>
      </p:pic>
      <p:sp>
        <p:nvSpPr>
          <p:cNvPr id="14" name="Text 10"/>
          <p:cNvSpPr txBox="1"/>
          <p:nvPr/>
        </p:nvSpPr>
        <p:spPr>
          <a:xfrm>
            <a:off x="4983480" y="1737360"/>
            <a:ext cx="1737360" cy="1371600"/>
          </a:xfrm>
          <a:prstGeom prst="rect">
            <a:avLst/>
          </a:prstGeom>
          <a:noFill/>
          <a:ln/>
        </p:spPr>
        <p:txBody>
          <a:bodyPr wrap="square" lIns="0" tIns="0" rIns="0" bIns="0" rtlCol="0" anchor="ctr"/>
          <a:lstStyle/>
          <a:p>
            <a:pPr indent="0" marL="0">
              <a:buNone/>
            </a:pPr>
            <a:r>
              <a:rPr lang="en-US" sz="2200" b="1" dirty="0">
                <a:solidFill>
                  <a:schemeClr val="bg1"/>
                </a:solidFill>
              </a:rPr>
              <a:t>Tree models</a:t>
            </a:r>
            <a:endParaRPr lang="en-US" sz="1800" dirty="0"/>
          </a:p>
          <a:p>
            <a:pPr indent="0" marL="0">
              <a:buNone/>
            </a:pPr>
            <a:r>
              <a:rPr lang="en-US" sz="1800" dirty="0">
                <a:solidFill>
                  <a:schemeClr val="bg1"/>
                </a:solidFill>
              </a:rPr>
              <a:t>strong ranker</a:t>
            </a:r>
            <a:endParaRPr lang="en-US" sz="1800" dirty="0"/>
          </a:p>
        </p:txBody>
      </p:sp>
      <p:sp>
        <p:nvSpPr>
          <p:cNvPr id="15" name="Shape 11"/>
          <p:cNvSpPr/>
          <p:nvPr/>
        </p:nvSpPr>
        <p:spPr>
          <a:xfrm flipV="1">
            <a:off x="2926080" y="2423160"/>
            <a:ext cx="1005840" cy="1005840"/>
          </a:xfrm>
          <a:prstGeom prst="line">
            <a:avLst/>
          </a:prstGeom>
          <a:noFill/>
          <a:ln w="31750">
            <a:solidFill>
              <a:srgbClr val="6B7785"/>
            </a:solidFill>
            <a:prstDash val="solid"/>
            <a:tailEnd type="triangle"/>
          </a:ln>
        </p:spPr>
      </p:sp>
      <p:sp>
        <p:nvSpPr>
          <p:cNvPr id="16" name="Text 12"/>
          <p:cNvSpPr txBox="1"/>
          <p:nvPr/>
        </p:nvSpPr>
        <p:spPr>
          <a:xfrm>
            <a:off x="3931920" y="3749040"/>
            <a:ext cx="2926080" cy="1371600"/>
          </a:xfrm>
          <a:prstGeom prst="roundRect">
            <a:avLst>
              <a:gd name="adj" fmla="val 6667"/>
            </a:avLst>
          </a:prstGeom>
          <a:solidFill>
            <a:schemeClr val="bg1"/>
          </a:solidFill>
          <a:ln w="38100">
            <a:solidFill>
              <a:srgbClr val="0072B2"/>
            </a:solidFill>
          </a:ln>
        </p:spPr>
        <p:txBody>
          <a:bodyPr wrap="square" lIns="1016" tIns="1016" rIns="1016" bIns="1016" rtlCol="0" anchor="ctr"/>
          <a:lstStyle/>
          <a:p>
            <a:pPr algn="ctr" indent="0" marL="0">
              <a:buNone/>
            </a:pPr>
            <a:endParaRPr lang="en-US" dirty="0"/>
          </a:p>
        </p:txBody>
      </p:sp>
      <p:pic>
        <p:nvPicPr>
          <p:cNvPr id="17" name="Image 2" descr="Clinical note icon">    </p:cNvPr>
          <p:cNvPicPr>
            <a:picLocks noChangeAspect="1"/>
          </p:cNvPicPr>
          <p:nvPr/>
        </p:nvPicPr>
        <p:blipFill>
          <a:blip r:embed="rId3"/>
          <a:stretch>
            <a:fillRect/>
          </a:stretch>
        </p:blipFill>
        <p:spPr>
          <a:xfrm>
            <a:off x="4114800" y="4069080"/>
            <a:ext cx="731520" cy="731520"/>
          </a:xfrm>
          <a:prstGeom prst="rect">
            <a:avLst/>
          </a:prstGeom>
        </p:spPr>
      </p:pic>
      <p:sp>
        <p:nvSpPr>
          <p:cNvPr id="18" name="Text 13"/>
          <p:cNvSpPr txBox="1"/>
          <p:nvPr/>
        </p:nvSpPr>
        <p:spPr>
          <a:xfrm>
            <a:off x="4983480" y="3749040"/>
            <a:ext cx="1737360" cy="1371600"/>
          </a:xfrm>
          <a:prstGeom prst="rect">
            <a:avLst/>
          </a:prstGeom>
          <a:noFill/>
          <a:ln/>
        </p:spPr>
        <p:txBody>
          <a:bodyPr wrap="square" lIns="0" tIns="0" rIns="0" bIns="0" rtlCol="0" anchor="ctr"/>
          <a:lstStyle/>
          <a:p>
            <a:pPr indent="0" marL="0">
              <a:buNone/>
            </a:pPr>
            <a:r>
              <a:rPr lang="en-US" sz="2200" b="1" dirty="0">
                <a:solidFill>
                  <a:schemeClr val="tx1"/>
                </a:solidFill>
              </a:rPr>
              <a:t>LLM</a:t>
            </a:r>
            <a:endParaRPr lang="en-US" sz="1800" dirty="0"/>
          </a:p>
          <a:p>
            <a:pPr indent="0" marL="0">
              <a:buNone/>
            </a:pPr>
            <a:r>
              <a:rPr lang="en-US" sz="1800" dirty="0">
                <a:solidFill>
                  <a:schemeClr val="tx1"/>
                </a:solidFill>
              </a:rPr>
              <a:t>weak, but different mistakes</a:t>
            </a:r>
            <a:endParaRPr lang="en-US" sz="1800" dirty="0"/>
          </a:p>
        </p:txBody>
      </p:sp>
      <p:sp>
        <p:nvSpPr>
          <p:cNvPr id="19" name="Shape 14"/>
          <p:cNvSpPr/>
          <p:nvPr/>
        </p:nvSpPr>
        <p:spPr>
          <a:xfrm>
            <a:off x="2926080" y="3429000"/>
            <a:ext cx="1005840" cy="1005840"/>
          </a:xfrm>
          <a:prstGeom prst="line">
            <a:avLst/>
          </a:prstGeom>
          <a:noFill/>
          <a:ln w="31750">
            <a:solidFill>
              <a:srgbClr val="6B7785"/>
            </a:solidFill>
            <a:prstDash val="solid"/>
            <a:tailEnd type="triangle"/>
          </a:ln>
        </p:spPr>
      </p:sp>
      <p:sp>
        <p:nvSpPr>
          <p:cNvPr id="20" name="Text 15"/>
          <p:cNvSpPr txBox="1"/>
          <p:nvPr/>
        </p:nvSpPr>
        <p:spPr>
          <a:xfrm>
            <a:off x="7589520" y="2743200"/>
            <a:ext cx="1920240" cy="1371600"/>
          </a:xfrm>
          <a:prstGeom prst="roundRect">
            <a:avLst>
              <a:gd name="adj" fmla="val 6667"/>
            </a:avLst>
          </a:prstGeom>
          <a:solidFill>
            <a:schemeClr val="bg1"/>
          </a:solidFill>
          <a:ln w="19050">
            <a:solidFill>
              <a:srgbClr val="6B7785"/>
            </a:solidFill>
          </a:ln>
        </p:spPr>
        <p:txBody>
          <a:bodyPr wrap="square" lIns="1016" tIns="1016" rIns="1016" bIns="1016" rtlCol="0" anchor="ctr"/>
          <a:lstStyle/>
          <a:p>
            <a:pPr algn="ctr" indent="0" marL="0">
              <a:buNone/>
            </a:pPr>
            <a:r>
              <a:rPr lang="en-US" sz="2200" b="1" dirty="0">
                <a:solidFill>
                  <a:schemeClr val="tx1"/>
                </a:solidFill>
              </a:rPr>
              <a:t>Rank blend</a:t>
            </a:r>
            <a:endParaRPr lang="en-US" sz="2200" dirty="0"/>
          </a:p>
        </p:txBody>
      </p:sp>
      <p:sp>
        <p:nvSpPr>
          <p:cNvPr id="21" name="Shape 16"/>
          <p:cNvSpPr/>
          <p:nvPr/>
        </p:nvSpPr>
        <p:spPr>
          <a:xfrm>
            <a:off x="6858000" y="2423160"/>
            <a:ext cx="731520" cy="777240"/>
          </a:xfrm>
          <a:prstGeom prst="line">
            <a:avLst/>
          </a:prstGeom>
          <a:noFill/>
          <a:ln w="31750">
            <a:solidFill>
              <a:srgbClr val="6B7785"/>
            </a:solidFill>
            <a:prstDash val="solid"/>
            <a:tailEnd type="triangle"/>
          </a:ln>
        </p:spPr>
      </p:sp>
      <p:sp>
        <p:nvSpPr>
          <p:cNvPr id="22" name="Shape 17"/>
          <p:cNvSpPr/>
          <p:nvPr/>
        </p:nvSpPr>
        <p:spPr>
          <a:xfrm flipV="1">
            <a:off x="6858000" y="3657600"/>
            <a:ext cx="731520" cy="777240"/>
          </a:xfrm>
          <a:prstGeom prst="line">
            <a:avLst/>
          </a:prstGeom>
          <a:noFill/>
          <a:ln w="31750">
            <a:solidFill>
              <a:srgbClr val="6B7785"/>
            </a:solidFill>
            <a:prstDash val="solid"/>
            <a:tailEnd type="triangle"/>
          </a:ln>
        </p:spPr>
      </p:sp>
      <p:sp>
        <p:nvSpPr>
          <p:cNvPr id="23" name="Text 18"/>
          <p:cNvSpPr txBox="1"/>
          <p:nvPr/>
        </p:nvSpPr>
        <p:spPr>
          <a:xfrm>
            <a:off x="9966960" y="2743200"/>
            <a:ext cx="1645920" cy="1371600"/>
          </a:xfrm>
          <a:prstGeom prst="roundRect">
            <a:avLst>
              <a:gd name="adj" fmla="val 6667"/>
            </a:avLst>
          </a:prstGeom>
          <a:solidFill>
            <a:schemeClr val="accent2"/>
          </a:solidFill>
          <a:ln>
            <a:solidFill>
              <a:schemeClr val="accent2"/>
            </a:solidFill>
          </a:ln>
        </p:spPr>
        <p:txBody>
          <a:bodyPr wrap="square" lIns="1016" tIns="1016" rIns="1016" bIns="1016" rtlCol="0" anchor="ctr"/>
          <a:lstStyle/>
          <a:p>
            <a:pPr algn="ctr" indent="0" marL="0">
              <a:buNone/>
            </a:pPr>
            <a:r>
              <a:rPr lang="en-US" sz="2200" b="1" dirty="0">
                <a:solidFill>
                  <a:schemeClr val="bg1"/>
                </a:solidFill>
              </a:rPr>
              <a:t>Seemed to improve</a:t>
            </a:r>
            <a:endParaRPr lang="en-US" sz="2200" dirty="0"/>
          </a:p>
        </p:txBody>
      </p:sp>
      <p:sp>
        <p:nvSpPr>
          <p:cNvPr id="24" name="Shape 19"/>
          <p:cNvSpPr/>
          <p:nvPr/>
        </p:nvSpPr>
        <p:spPr>
          <a:xfrm>
            <a:off x="9509760" y="3429000"/>
            <a:ext cx="457200" cy="0"/>
          </a:xfrm>
          <a:prstGeom prst="line">
            <a:avLst/>
          </a:prstGeom>
          <a:noFill/>
          <a:ln w="31750">
            <a:solidFill>
              <a:srgbClr val="6B7785"/>
            </a:solidFill>
            <a:prstDash val="solid"/>
            <a:tailEnd type="triangle"/>
          </a:ln>
        </p:spPr>
      </p:sp>
      <p:sp>
        <p:nvSpPr>
          <p:cNvPr id="25" name="Text 20"/>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The LLM ranks worse alone, but its errors differ from the tree models'.</a:t>
            </a:r>
            <a:endParaRPr lang="en-US" sz="1800" dirty="0"/>
          </a:p>
        </p:txBody>
      </p:sp>
      <p:sp>
        <p:nvSpPr>
          <p:cNvPr id="26" name="Text 21"/>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Schematic</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On the leaderboard, a weak LLM</a:t>
            </a:r>
            <a:endParaRPr lang="en-US" sz="2800" dirty="0"/>
          </a:p>
          <a:p>
            <a:pPr algn="l" indent="0" marL="0">
              <a:buNone/>
            </a:pPr>
            <a:r>
              <a:rPr lang="en-US" sz="2800" b="1" dirty="0">
                <a:solidFill>
                  <a:schemeClr val="tx1"/>
                </a:solidFill>
              </a:rPr>
              <a:t>seemed to lift our pipeline to 0.904</a:t>
            </a:r>
            <a:endParaRPr lang="en-US" sz="2800" dirty="0"/>
          </a:p>
        </p:txBody>
      </p:sp>
      <p:graphicFrame>
        <p:nvGraphicFramePr>
          <p:cNvPr id="3" name="Chart 0" descr="Eight bars of weighted C-index from our leaderboard milestones. The final two-stage blend, 0.904, scores highest."/>
          <p:cNvGraphicFramePr/>
          <p:nvPr/>
        </p:nvGraphicFramePr>
        <p:xfrm>
          <a:off x="548640" y="1463040"/>
          <a:ext cx="1106424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Blended at a small rank weight, GPT-OSS gave the pipeline's best public score.</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our leaderboard milestones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Because the metric only sees order, we blend ranks, not raw scores</a:t>
            </a:r>
            <a:endParaRPr lang="en-US" sz="2800" dirty="0"/>
          </a:p>
        </p:txBody>
      </p:sp>
      <p:graphicFrame>
        <p:nvGraphicFramePr>
          <p:cNvPr id="3" name="Chart 0" descr="Four bars: a score and its exponential have the same C-index; a raw average is lower; a rank average is close to the score."/>
          <p:cNvGraphicFramePr/>
          <p:nvPr/>
        </p:nvGraphicFramePr>
        <p:xfrm>
          <a:off x="548640" y="1463040"/>
          <a:ext cx="110642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Averaging raw scores lets the wider scale win. Averaging ranks weighs both fairly.</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cohort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Each patient's record has its own length, gaps and ending</a:t>
            </a:r>
            <a:endParaRPr lang="en-US" sz="2800" dirty="0"/>
          </a:p>
        </p:txBody>
      </p:sp>
      <p:pic>
        <p:nvPicPr>
          <p:cNvPr id="3" name="Image 0" descr="Three synthetic patients. Patient A, a woman of 41, has 5 visits, FibroScan at 2, above the cirrhosis line, then a hepatic event. Patient B, a man of 55, has 15 visits, FibroScan at 12 with low readings, and is still event-free. Patient C, a man of 70, has 6 visits, FibroScan at 4 above the cirrhosis line, and is still event-free.">    </p:cNvPr>
          <p:cNvPicPr>
            <a:picLocks noChangeAspect="1"/>
          </p:cNvPicPr>
          <p:nvPr/>
        </p:nvPicPr>
        <p:blipFill>
          <a:blip r:embed="rId1"/>
          <a:stretch>
            <a:fillRect/>
          </a:stretch>
        </p:blipFill>
        <p:spPr>
          <a:xfrm>
            <a:off x="822960" y="1554480"/>
            <a:ext cx="10515600" cy="4183380"/>
          </a:xfrm>
          <a:prstGeom prst="rect">
            <a:avLst/>
          </a:prstGeom>
        </p:spPr>
      </p:pic>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Visits: 5, 15 and 6. FibroScan at 2, 12 and 4 of them. One event.</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patients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Our tree models read Patient A's record</a:t>
            </a:r>
            <a:endParaRPr lang="en-US" sz="2800" dirty="0"/>
          </a:p>
          <a:p>
            <a:pPr algn="l" indent="0" marL="0">
              <a:buNone/>
            </a:pPr>
            <a:r>
              <a:rPr lang="en-US" sz="2800" b="1" dirty="0">
                <a:solidFill>
                  <a:schemeClr val="tx1"/>
                </a:solidFill>
              </a:rPr>
              <a:t>as hundreds of small yes/no flowcharts</a:t>
            </a:r>
            <a:endParaRPr lang="en-US" sz="2800" dirty="0"/>
          </a:p>
        </p:txBody>
      </p:sp>
      <p:pic>
        <p:nvPicPr>
          <p:cNvPr id="3" name="Image 0" descr="The first tree of the XGBoost model as a flowchart, with Patient A's path: FibroTest ≥ 0.64? yes → FibroTest ≥ 0.86? yes → BMI ≥ 31.6? no → Type 2 diabetes? no → this tree: higher risk.">    </p:cNvPr>
          <p:cNvPicPr>
            <a:picLocks noChangeAspect="1"/>
          </p:cNvPicPr>
          <p:nvPr/>
        </p:nvPicPr>
        <p:blipFill>
          <a:blip r:embed="rId1"/>
          <a:stretch>
            <a:fillRect/>
          </a:stretch>
        </p:blipFill>
        <p:spPr>
          <a:xfrm>
            <a:off x="457200" y="1417320"/>
            <a:ext cx="7127748" cy="4384548"/>
          </a:xfrm>
          <a:prstGeom prst="rect">
            <a:avLst/>
          </a:prstGeom>
        </p:spPr>
      </p:pic>
      <p:sp>
        <p:nvSpPr>
          <p:cNvPr id="4" name="Text 1"/>
          <p:cNvSpPr txBox="1"/>
          <p:nvPr/>
        </p:nvSpPr>
        <p:spPr>
          <a:xfrm>
            <a:off x="7955280" y="1463040"/>
            <a:ext cx="1691640" cy="685800"/>
          </a:xfrm>
          <a:prstGeom prst="rect">
            <a:avLst/>
          </a:prstGeom>
          <a:noFill/>
          <a:ln/>
        </p:spPr>
        <p:txBody>
          <a:bodyPr wrap="square" lIns="0" tIns="0" rIns="0" bIns="0" rtlCol="0" anchor="t"/>
          <a:lstStyle/>
          <a:p>
            <a:pPr indent="0" marL="0">
              <a:buNone/>
            </a:pPr>
            <a:r>
              <a:rPr lang="en-US" sz="2000" b="1" dirty="0">
                <a:solidFill>
                  <a:schemeClr val="tx1"/>
                </a:solidFill>
              </a:rPr>
              <a:t>XGBoost</a:t>
            </a:r>
            <a:endParaRPr lang="en-US" sz="2000" dirty="0"/>
          </a:p>
          <a:p>
            <a:pPr indent="0" marL="0">
              <a:buNone/>
            </a:pPr>
            <a:r>
              <a:rPr lang="en-US" sz="1800" dirty="0">
                <a:solidFill>
                  <a:schemeClr val="tx2"/>
                </a:solidFill>
              </a:rPr>
              <a:t>250 trees</a:t>
            </a:r>
            <a:endParaRPr lang="en-US" sz="2000" dirty="0"/>
          </a:p>
        </p:txBody>
      </p:sp>
      <p:pic>
        <p:nvPicPr>
          <p:cNvPr id="5" name="Image 1" descr="XGBoost tree icon">    </p:cNvPr>
          <p:cNvPicPr>
            <a:picLocks noChangeAspect="1"/>
          </p:cNvPicPr>
          <p:nvPr/>
        </p:nvPicPr>
        <p:blipFill>
          <a:blip r:embed="rId2"/>
          <a:stretch>
            <a:fillRect/>
          </a:stretch>
        </p:blipFill>
        <p:spPr>
          <a:xfrm>
            <a:off x="7955280" y="2240280"/>
            <a:ext cx="457200" cy="457200"/>
          </a:xfrm>
          <a:prstGeom prst="rect">
            <a:avLst/>
          </a:prstGeom>
        </p:spPr>
      </p:pic>
      <p:pic>
        <p:nvPicPr>
          <p:cNvPr id="6" name="Image 2" descr="XGBoost tree icon">    </p:cNvPr>
          <p:cNvPicPr>
            <a:picLocks noChangeAspect="1"/>
          </p:cNvPicPr>
          <p:nvPr/>
        </p:nvPicPr>
        <p:blipFill>
          <a:blip r:embed="rId3"/>
          <a:stretch>
            <a:fillRect/>
          </a:stretch>
        </p:blipFill>
        <p:spPr>
          <a:xfrm>
            <a:off x="8522208" y="2240280"/>
            <a:ext cx="457200" cy="457200"/>
          </a:xfrm>
          <a:prstGeom prst="rect">
            <a:avLst/>
          </a:prstGeom>
        </p:spPr>
      </p:pic>
      <p:pic>
        <p:nvPicPr>
          <p:cNvPr id="7" name="Image 3" descr="XGBoost tree icon">    </p:cNvPr>
          <p:cNvPicPr>
            <a:picLocks noChangeAspect="1"/>
          </p:cNvPicPr>
          <p:nvPr/>
        </p:nvPicPr>
        <p:blipFill>
          <a:blip r:embed="rId4"/>
          <a:stretch>
            <a:fillRect/>
          </a:stretch>
        </p:blipFill>
        <p:spPr>
          <a:xfrm>
            <a:off x="9089136" y="2240280"/>
            <a:ext cx="457200" cy="457200"/>
          </a:xfrm>
          <a:prstGeom prst="rect">
            <a:avLst/>
          </a:prstGeom>
        </p:spPr>
      </p:pic>
      <p:pic>
        <p:nvPicPr>
          <p:cNvPr id="8" name="Image 4" descr="XGBoost tree icon">    </p:cNvPr>
          <p:cNvPicPr>
            <a:picLocks noChangeAspect="1"/>
          </p:cNvPicPr>
          <p:nvPr/>
        </p:nvPicPr>
        <p:blipFill>
          <a:blip r:embed="rId5"/>
          <a:stretch>
            <a:fillRect/>
          </a:stretch>
        </p:blipFill>
        <p:spPr>
          <a:xfrm>
            <a:off x="7955280" y="2807208"/>
            <a:ext cx="457200" cy="457200"/>
          </a:xfrm>
          <a:prstGeom prst="rect">
            <a:avLst/>
          </a:prstGeom>
        </p:spPr>
      </p:pic>
      <p:pic>
        <p:nvPicPr>
          <p:cNvPr id="9" name="Image 5" descr="XGBoost tree icon">    </p:cNvPr>
          <p:cNvPicPr>
            <a:picLocks noChangeAspect="1"/>
          </p:cNvPicPr>
          <p:nvPr/>
        </p:nvPicPr>
        <p:blipFill>
          <a:blip r:embed="rId6"/>
          <a:stretch>
            <a:fillRect/>
          </a:stretch>
        </p:blipFill>
        <p:spPr>
          <a:xfrm>
            <a:off x="8522208" y="2807208"/>
            <a:ext cx="457200" cy="457200"/>
          </a:xfrm>
          <a:prstGeom prst="rect">
            <a:avLst/>
          </a:prstGeom>
        </p:spPr>
      </p:pic>
      <p:pic>
        <p:nvPicPr>
          <p:cNvPr id="10" name="Image 6" descr="XGBoost tree icon">    </p:cNvPr>
          <p:cNvPicPr>
            <a:picLocks noChangeAspect="1"/>
          </p:cNvPicPr>
          <p:nvPr/>
        </p:nvPicPr>
        <p:blipFill>
          <a:blip r:embed="rId7"/>
          <a:stretch>
            <a:fillRect/>
          </a:stretch>
        </p:blipFill>
        <p:spPr>
          <a:xfrm>
            <a:off x="9089136" y="2807208"/>
            <a:ext cx="457200" cy="457200"/>
          </a:xfrm>
          <a:prstGeom prst="rect">
            <a:avLst/>
          </a:prstGeom>
        </p:spPr>
      </p:pic>
      <p:sp>
        <p:nvSpPr>
          <p:cNvPr id="11" name="Text 2"/>
          <p:cNvSpPr txBox="1"/>
          <p:nvPr/>
        </p:nvSpPr>
        <p:spPr>
          <a:xfrm>
            <a:off x="9921240" y="1463040"/>
            <a:ext cx="1691640" cy="685800"/>
          </a:xfrm>
          <a:prstGeom prst="rect">
            <a:avLst/>
          </a:prstGeom>
          <a:noFill/>
          <a:ln/>
        </p:spPr>
        <p:txBody>
          <a:bodyPr wrap="square" lIns="0" tIns="0" rIns="0" bIns="0" rtlCol="0" anchor="t"/>
          <a:lstStyle/>
          <a:p>
            <a:pPr indent="0" marL="0">
              <a:buNone/>
            </a:pPr>
            <a:r>
              <a:rPr lang="en-US" sz="2000" b="1" dirty="0">
                <a:solidFill>
                  <a:schemeClr val="tx1"/>
                </a:solidFill>
              </a:rPr>
              <a:t>CatBoost</a:t>
            </a:r>
            <a:endParaRPr lang="en-US" sz="2000" dirty="0"/>
          </a:p>
          <a:p>
            <a:pPr indent="0" marL="0">
              <a:buNone/>
            </a:pPr>
            <a:r>
              <a:rPr lang="en-US" sz="1800" dirty="0">
                <a:solidFill>
                  <a:schemeClr val="tx2"/>
                </a:solidFill>
              </a:rPr>
              <a:t>250 trees</a:t>
            </a:r>
            <a:endParaRPr lang="en-US" sz="2000" dirty="0"/>
          </a:p>
        </p:txBody>
      </p:sp>
      <p:pic>
        <p:nvPicPr>
          <p:cNvPr id="12" name="Image 7" descr="CatBoost tree icon">    </p:cNvPr>
          <p:cNvPicPr>
            <a:picLocks noChangeAspect="1"/>
          </p:cNvPicPr>
          <p:nvPr/>
        </p:nvPicPr>
        <p:blipFill>
          <a:blip r:embed="rId8"/>
          <a:stretch>
            <a:fillRect/>
          </a:stretch>
        </p:blipFill>
        <p:spPr>
          <a:xfrm>
            <a:off x="9921240" y="2240280"/>
            <a:ext cx="457200" cy="457200"/>
          </a:xfrm>
          <a:prstGeom prst="rect">
            <a:avLst/>
          </a:prstGeom>
        </p:spPr>
      </p:pic>
      <p:pic>
        <p:nvPicPr>
          <p:cNvPr id="13" name="Image 8" descr="CatBoost tree icon">    </p:cNvPr>
          <p:cNvPicPr>
            <a:picLocks noChangeAspect="1"/>
          </p:cNvPicPr>
          <p:nvPr/>
        </p:nvPicPr>
        <p:blipFill>
          <a:blip r:embed="rId9"/>
          <a:stretch>
            <a:fillRect/>
          </a:stretch>
        </p:blipFill>
        <p:spPr>
          <a:xfrm>
            <a:off x="10488168" y="2240280"/>
            <a:ext cx="457200" cy="457200"/>
          </a:xfrm>
          <a:prstGeom prst="rect">
            <a:avLst/>
          </a:prstGeom>
        </p:spPr>
      </p:pic>
      <p:pic>
        <p:nvPicPr>
          <p:cNvPr id="14" name="Image 9" descr="CatBoost tree icon">    </p:cNvPr>
          <p:cNvPicPr>
            <a:picLocks noChangeAspect="1"/>
          </p:cNvPicPr>
          <p:nvPr/>
        </p:nvPicPr>
        <p:blipFill>
          <a:blip r:embed="rId10"/>
          <a:stretch>
            <a:fillRect/>
          </a:stretch>
        </p:blipFill>
        <p:spPr>
          <a:xfrm>
            <a:off x="11055096" y="2240280"/>
            <a:ext cx="457200" cy="457200"/>
          </a:xfrm>
          <a:prstGeom prst="rect">
            <a:avLst/>
          </a:prstGeom>
        </p:spPr>
      </p:pic>
      <p:pic>
        <p:nvPicPr>
          <p:cNvPr id="15" name="Image 10" descr="CatBoost tree icon">    </p:cNvPr>
          <p:cNvPicPr>
            <a:picLocks noChangeAspect="1"/>
          </p:cNvPicPr>
          <p:nvPr/>
        </p:nvPicPr>
        <p:blipFill>
          <a:blip r:embed="rId11"/>
          <a:stretch>
            <a:fillRect/>
          </a:stretch>
        </p:blipFill>
        <p:spPr>
          <a:xfrm>
            <a:off x="9921240" y="2807208"/>
            <a:ext cx="457200" cy="457200"/>
          </a:xfrm>
          <a:prstGeom prst="rect">
            <a:avLst/>
          </a:prstGeom>
        </p:spPr>
      </p:pic>
      <p:pic>
        <p:nvPicPr>
          <p:cNvPr id="16" name="Image 11" descr="CatBoost tree icon">    </p:cNvPr>
          <p:cNvPicPr>
            <a:picLocks noChangeAspect="1"/>
          </p:cNvPicPr>
          <p:nvPr/>
        </p:nvPicPr>
        <p:blipFill>
          <a:blip r:embed="rId12"/>
          <a:stretch>
            <a:fillRect/>
          </a:stretch>
        </p:blipFill>
        <p:spPr>
          <a:xfrm>
            <a:off x="10488168" y="2807208"/>
            <a:ext cx="457200" cy="457200"/>
          </a:xfrm>
          <a:prstGeom prst="rect">
            <a:avLst/>
          </a:prstGeom>
        </p:spPr>
      </p:pic>
      <p:pic>
        <p:nvPicPr>
          <p:cNvPr id="17" name="Image 12" descr="CatBoost tree icon">    </p:cNvPr>
          <p:cNvPicPr>
            <a:picLocks noChangeAspect="1"/>
          </p:cNvPicPr>
          <p:nvPr/>
        </p:nvPicPr>
        <p:blipFill>
          <a:blip r:embed="rId13"/>
          <a:stretch>
            <a:fillRect/>
          </a:stretch>
        </p:blipFill>
        <p:spPr>
          <a:xfrm>
            <a:off x="11055096" y="2807208"/>
            <a:ext cx="457200" cy="457200"/>
          </a:xfrm>
          <a:prstGeom prst="rect">
            <a:avLst/>
          </a:prstGeom>
        </p:spPr>
      </p:pic>
      <p:sp>
        <p:nvSpPr>
          <p:cNvPr id="18" name="Shape 3"/>
          <p:cNvSpPr/>
          <p:nvPr/>
        </p:nvSpPr>
        <p:spPr>
          <a:xfrm>
            <a:off x="8778240" y="3383280"/>
            <a:ext cx="731520" cy="457200"/>
          </a:xfrm>
          <a:prstGeom prst="line">
            <a:avLst/>
          </a:prstGeom>
          <a:noFill/>
          <a:ln w="31750">
            <a:solidFill>
              <a:srgbClr val="6B7785"/>
            </a:solidFill>
            <a:prstDash val="solid"/>
            <a:tailEnd type="triangle"/>
          </a:ln>
        </p:spPr>
      </p:sp>
      <p:sp>
        <p:nvSpPr>
          <p:cNvPr id="19" name="Shape 4"/>
          <p:cNvSpPr/>
          <p:nvPr/>
        </p:nvSpPr>
        <p:spPr>
          <a:xfrm flipH="1">
            <a:off x="10012680" y="3383280"/>
            <a:ext cx="731520" cy="457200"/>
          </a:xfrm>
          <a:prstGeom prst="line">
            <a:avLst/>
          </a:prstGeom>
          <a:noFill/>
          <a:ln w="31750">
            <a:solidFill>
              <a:srgbClr val="6B7785"/>
            </a:solidFill>
            <a:prstDash val="solid"/>
            <a:tailEnd type="triangle"/>
          </a:ln>
        </p:spPr>
      </p:sp>
      <p:sp>
        <p:nvSpPr>
          <p:cNvPr id="20" name="Text 5"/>
          <p:cNvSpPr txBox="1"/>
          <p:nvPr/>
        </p:nvSpPr>
        <p:spPr>
          <a:xfrm>
            <a:off x="8641080" y="3840480"/>
            <a:ext cx="2240280" cy="548640"/>
          </a:xfrm>
          <a:prstGeom prst="roundRect">
            <a:avLst>
              <a:gd name="adj" fmla="val 16667"/>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Rank blend</a:t>
            </a:r>
            <a:endParaRPr lang="en-US" sz="2000" dirty="0"/>
          </a:p>
        </p:txBody>
      </p:sp>
      <p:sp>
        <p:nvSpPr>
          <p:cNvPr id="21" name="Text 6"/>
          <p:cNvSpPr txBox="1"/>
          <p:nvPr/>
        </p:nvSpPr>
        <p:spPr>
          <a:xfrm>
            <a:off x="7955280" y="4526280"/>
            <a:ext cx="3657600" cy="1097280"/>
          </a:xfrm>
          <a:prstGeom prst="rect">
            <a:avLst/>
          </a:prstGeom>
          <a:noFill/>
          <a:ln/>
        </p:spPr>
        <p:txBody>
          <a:bodyPr wrap="square" lIns="0" tIns="0" rIns="0" bIns="0" rtlCol="0" anchor="t"/>
          <a:lstStyle/>
          <a:p>
            <a:pPr indent="0" marL="0">
              <a:buNone/>
            </a:pPr>
            <a:r>
              <a:rPr lang="en-US" sz="4000" b="1" dirty="0">
                <a:solidFill>
                  <a:schemeClr val="accent2"/>
                </a:solidFill>
              </a:rPr>
              <a:t>99%</a:t>
            </a:r>
            <a:endParaRPr lang="en-US" sz="4000" dirty="0"/>
          </a:p>
          <a:p>
            <a:pPr indent="0" marL="0">
              <a:buNone/>
            </a:pPr>
            <a:r>
              <a:rPr lang="en-US" sz="1800" dirty="0">
                <a:solidFill>
                  <a:schemeClr val="tx1"/>
                </a:solidFill>
              </a:rPr>
              <a:t>of 600 test patients rank below Patient A</a:t>
            </a:r>
            <a:endParaRPr lang="en-US" sz="4000" dirty="0"/>
          </a:p>
        </p:txBody>
      </p:sp>
      <p:sp>
        <p:nvSpPr>
          <p:cNvPr id="22" name="Text 7"/>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Each tree asks a few yes/no questions. Added up, hundreds of them rank the patients.</a:t>
            </a:r>
            <a:endParaRPr lang="en-US" sz="1800" dirty="0"/>
          </a:p>
        </p:txBody>
      </p:sp>
      <p:sp>
        <p:nvSpPr>
          <p:cNvPr id="23" name="Text 8"/>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cohort; the first of 250 XGBoost trees, first-visit features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Follow-up stops at the event, so</a:t>
            </a:r>
            <a:endParaRPr lang="en-US" sz="2800" dirty="0"/>
          </a:p>
          <a:p>
            <a:pPr algn="l" indent="0" marL="0">
              <a:buNone/>
            </a:pPr>
            <a:r>
              <a:rPr lang="en-US" sz="2800" b="1" dirty="0">
                <a:solidFill>
                  <a:schemeClr val="tx1"/>
                </a:solidFill>
              </a:rPr>
              <a:t>record length can leak the outcome</a:t>
            </a:r>
            <a:endParaRPr lang="en-US" sz="2800" dirty="0"/>
          </a:p>
        </p:txBody>
      </p:sp>
      <p:graphicFrame>
        <p:nvGraphicFramePr>
          <p:cNvPr id="3" name="Chart 0" descr="Stacked columns of visits per patient: patients with a hepatic event have fewer visits."/>
          <p:cNvGraphicFramePr/>
          <p:nvPr/>
        </p:nvGraphicFramePr>
        <p:xfrm>
          <a:off x="548640" y="1463040"/>
          <a:ext cx="57607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Three bars of hepatic C-index: baseline visit only 0.798, true risk 0.825, whole follow-up window 0.920."/>
          <p:cNvGraphicFramePr/>
          <p:nvPr/>
        </p:nvGraphicFramePr>
        <p:xfrm>
          <a:off x="6583680" y="1463040"/>
          <a:ext cx="5029200" cy="4343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A score that sees the whole follow-up window beats the true risk, so it reads the outcome.</a:t>
            </a:r>
            <a:endParaRPr lang="en-US" sz="1800" dirty="0"/>
          </a:p>
        </p:txBody>
      </p:sp>
      <p:sp>
        <p:nvSpPr>
          <p:cNvPr id="6"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cohort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We turn each patient into a clinical</a:t>
            </a:r>
            <a:endParaRPr lang="en-US" sz="2800" dirty="0"/>
          </a:p>
          <a:p>
            <a:pPr algn="l" indent="0" marL="0">
              <a:buNone/>
            </a:pPr>
            <a:r>
              <a:rPr lang="en-US" sz="2800" b="1" dirty="0">
                <a:solidFill>
                  <a:schemeClr val="tx1"/>
                </a:solidFill>
              </a:rPr>
              <a:t>note and ask one question per endpoint</a:t>
            </a:r>
            <a:endParaRPr lang="en-US" sz="2800" dirty="0"/>
          </a:p>
        </p:txBody>
      </p:sp>
      <p:sp>
        <p:nvSpPr>
          <p:cNvPr id="3" name="Text 1"/>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800" b="1" dirty="0">
                <a:solidFill>
                  <a:schemeClr val="tx1"/>
                </a:solidFill>
              </a:rPr>
              <a:t>Patient A, as the LLM reads her record</a:t>
            </a:r>
            <a:endParaRPr lang="en-US" sz="1800" dirty="0"/>
          </a:p>
        </p:txBody>
      </p:sp>
      <p:pic>
        <p:nvPicPr>
          <p:cNvPr id="4" name="Image 0" descr="An excerpt of the clinical note the model reads: MASLD patient. Female, age 40.69–44.11 yr, 5 clinic visits. Comorbidities: dyslipidaemia. FibroScan liver stiffness (kPa; F2=7.0, F3=9.5, F4/cirrhosis=12.5): n=2, first=15.18 kPa, last=15.22 kPa, stable Platelets (G/L; thrombocytopenia &lt;150): n=5, first=180.72 G/L, last=129.49 G/L, falling ALT (U/L; ULN 40): n=5, first=74.39 U/L, last=82.12 U/L, rising">    </p:cNvPr>
          <p:cNvPicPr>
            <a:picLocks noChangeAspect="1"/>
          </p:cNvPicPr>
          <p:nvPr/>
        </p:nvPicPr>
        <p:blipFill>
          <a:blip r:embed="rId1"/>
          <a:stretch>
            <a:fillRect/>
          </a:stretch>
        </p:blipFill>
        <p:spPr>
          <a:xfrm>
            <a:off x="548640" y="1920240"/>
            <a:ext cx="7315200" cy="3461004"/>
          </a:xfrm>
          <a:prstGeom prst="rect">
            <a:avLst/>
          </a:prstGeom>
        </p:spPr>
      </p:pic>
      <p:sp>
        <p:nvSpPr>
          <p:cNvPr id="5" name="Text 2"/>
          <p:cNvSpPr txBox="1"/>
          <p:nvPr/>
        </p:nvSpPr>
        <p:spPr>
          <a:xfrm>
            <a:off x="8686800" y="2194560"/>
            <a:ext cx="2926080" cy="1188720"/>
          </a:xfrm>
          <a:prstGeom prst="roundRect">
            <a:avLst>
              <a:gd name="adj" fmla="val 7692"/>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Hepatic prompt</a:t>
            </a:r>
            <a:endParaRPr lang="en-US" sz="2000" dirty="0"/>
          </a:p>
          <a:p>
            <a:pPr algn="ctr" indent="0" marL="0">
              <a:buNone/>
            </a:pPr>
            <a:r>
              <a:rPr lang="en-US" sz="2000" dirty="0">
                <a:solidFill>
                  <a:schemeClr val="tx1"/>
                </a:solidFill>
              </a:rPr>
              <a:t>0–100 score</a:t>
            </a:r>
            <a:endParaRPr lang="en-US" sz="2000" dirty="0"/>
          </a:p>
        </p:txBody>
      </p:sp>
      <p:sp>
        <p:nvSpPr>
          <p:cNvPr id="6" name="Text 3"/>
          <p:cNvSpPr txBox="1"/>
          <p:nvPr/>
        </p:nvSpPr>
        <p:spPr>
          <a:xfrm>
            <a:off x="8686800" y="3931920"/>
            <a:ext cx="2926080" cy="1188720"/>
          </a:xfrm>
          <a:prstGeom prst="roundRect">
            <a:avLst>
              <a:gd name="adj" fmla="val 7692"/>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Death prompt</a:t>
            </a:r>
            <a:endParaRPr lang="en-US" sz="2000" dirty="0"/>
          </a:p>
          <a:p>
            <a:pPr algn="ctr" indent="0" marL="0">
              <a:buNone/>
            </a:pPr>
            <a:r>
              <a:rPr lang="en-US" sz="2000" dirty="0">
                <a:solidFill>
                  <a:schemeClr val="tx1"/>
                </a:solidFill>
              </a:rPr>
              <a:t>0–100 score</a:t>
            </a:r>
            <a:endParaRPr lang="en-US" sz="2000" dirty="0"/>
          </a:p>
        </p:txBody>
      </p:sp>
      <p:sp>
        <p:nvSpPr>
          <p:cNvPr id="7" name="Shape 4"/>
          <p:cNvSpPr/>
          <p:nvPr/>
        </p:nvSpPr>
        <p:spPr>
          <a:xfrm flipV="1">
            <a:off x="7955280" y="2788920"/>
            <a:ext cx="640080" cy="777240"/>
          </a:xfrm>
          <a:prstGeom prst="line">
            <a:avLst/>
          </a:prstGeom>
          <a:noFill/>
          <a:ln w="31750">
            <a:solidFill>
              <a:srgbClr val="6B7785"/>
            </a:solidFill>
            <a:prstDash val="solid"/>
            <a:tailEnd type="triangle"/>
          </a:ln>
        </p:spPr>
      </p:sp>
      <p:sp>
        <p:nvSpPr>
          <p:cNvPr id="8" name="Shape 5"/>
          <p:cNvSpPr/>
          <p:nvPr/>
        </p:nvSpPr>
        <p:spPr>
          <a:xfrm>
            <a:off x="7955280" y="3749040"/>
            <a:ext cx="640080" cy="777240"/>
          </a:xfrm>
          <a:prstGeom prst="line">
            <a:avLst/>
          </a:prstGeom>
          <a:noFill/>
          <a:ln w="31750">
            <a:solidFill>
              <a:srgbClr val="6B7785"/>
            </a:solidFill>
            <a:prstDash val="solid"/>
            <a:tailEnd type="triangle"/>
          </a:ln>
        </p:spPr>
      </p:sp>
      <p:sp>
        <p:nvSpPr>
          <p:cNvPr id="9" name="Text 6"/>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HeLM idea: a language model reads the record as text and returns a risk ranking.</a:t>
            </a:r>
            <a:endParaRPr lang="en-US" sz="1800" dirty="0"/>
          </a:p>
        </p:txBody>
      </p:sp>
      <p:sp>
        <p:nvSpPr>
          <p:cNvPr id="10" name="Text 7"/>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patient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A fixed harness, not an autonomous</a:t>
            </a:r>
            <a:endParaRPr lang="en-US" sz="2800" dirty="0"/>
          </a:p>
          <a:p>
            <a:pPr algn="l" indent="0" marL="0">
              <a:buNone/>
            </a:pPr>
            <a:r>
              <a:rPr lang="en-US" sz="2800" b="1" dirty="0">
                <a:solidFill>
                  <a:schemeClr val="tx1"/>
                </a:solidFill>
              </a:rPr>
              <a:t>agent, decides what the model may see</a:t>
            </a:r>
            <a:endParaRPr lang="en-US" sz="2800" dirty="0"/>
          </a:p>
        </p:txBody>
      </p:sp>
      <p:sp>
        <p:nvSpPr>
          <p:cNvPr id="3" name="Text 1"/>
          <p:cNvSpPr txBox="1"/>
          <p:nvPr/>
        </p:nvSpPr>
        <p:spPr>
          <a:xfrm>
            <a:off x="548640" y="1600200"/>
            <a:ext cx="1920240" cy="1188720"/>
          </a:xfrm>
          <a:prstGeom prst="roundRect">
            <a:avLst>
              <a:gd name="adj" fmla="val 7692"/>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Leak guard</a:t>
            </a:r>
            <a:endParaRPr lang="en-US" sz="2000" dirty="0"/>
          </a:p>
        </p:txBody>
      </p:sp>
      <p:sp>
        <p:nvSpPr>
          <p:cNvPr id="4" name="Shape 2"/>
          <p:cNvSpPr/>
          <p:nvPr/>
        </p:nvSpPr>
        <p:spPr>
          <a:xfrm>
            <a:off x="2468880" y="2194560"/>
            <a:ext cx="365760" cy="0"/>
          </a:xfrm>
          <a:prstGeom prst="line">
            <a:avLst/>
          </a:prstGeom>
          <a:noFill/>
          <a:ln w="31750">
            <a:solidFill>
              <a:srgbClr val="6B7785"/>
            </a:solidFill>
            <a:prstDash val="solid"/>
            <a:tailEnd type="triangle"/>
          </a:ln>
        </p:spPr>
      </p:sp>
      <p:sp>
        <p:nvSpPr>
          <p:cNvPr id="5" name="Text 3"/>
          <p:cNvSpPr txBox="1"/>
          <p:nvPr/>
        </p:nvSpPr>
        <p:spPr>
          <a:xfrm>
            <a:off x="457200" y="2926080"/>
            <a:ext cx="2103120" cy="685800"/>
          </a:xfrm>
          <a:prstGeom prst="rect">
            <a:avLst/>
          </a:prstGeom>
          <a:noFill/>
          <a:ln/>
        </p:spPr>
        <p:txBody>
          <a:bodyPr wrap="square" lIns="0" tIns="0" rIns="0" bIns="0" rtlCol="0" anchor="t"/>
          <a:lstStyle/>
          <a:p>
            <a:pPr algn="ctr" indent="0" marL="0">
              <a:buNone/>
            </a:pPr>
            <a:r>
              <a:rPr lang="en-US" sz="1800" dirty="0">
                <a:solidFill>
                  <a:schemeClr val="tx2"/>
                </a:solidFill>
              </a:rPr>
              <a:t>Drops </a:t>
            </a:r>
            <a:pPr algn="ctr" indent="0" marL="0">
              <a:buNone/>
            </a:pPr>
            <a:r>
              <a:rPr lang="en-US" sz="1800" strike="sngStrike" dirty="0">
                <a:solidFill>
                  <a:srgbClr val="D55E00"/>
                </a:solidFill>
              </a:rPr>
              <a:t>follow-up length</a:t>
            </a:r>
            <a:endParaRPr lang="en-US" sz="1800" dirty="0"/>
          </a:p>
        </p:txBody>
      </p:sp>
      <p:sp>
        <p:nvSpPr>
          <p:cNvPr id="6" name="Text 4"/>
          <p:cNvSpPr txBox="1"/>
          <p:nvPr/>
        </p:nvSpPr>
        <p:spPr>
          <a:xfrm>
            <a:off x="2834640" y="1600200"/>
            <a:ext cx="1920240" cy="1188720"/>
          </a:xfrm>
          <a:prstGeom prst="roundRect">
            <a:avLst>
              <a:gd name="adj" fmla="val 7692"/>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Prompt builder</a:t>
            </a:r>
            <a:endParaRPr lang="en-US" sz="2000" dirty="0"/>
          </a:p>
        </p:txBody>
      </p:sp>
      <p:sp>
        <p:nvSpPr>
          <p:cNvPr id="7" name="Shape 5"/>
          <p:cNvSpPr/>
          <p:nvPr/>
        </p:nvSpPr>
        <p:spPr>
          <a:xfrm>
            <a:off x="4754880" y="2194560"/>
            <a:ext cx="365760" cy="0"/>
          </a:xfrm>
          <a:prstGeom prst="line">
            <a:avLst/>
          </a:prstGeom>
          <a:noFill/>
          <a:ln w="31750">
            <a:solidFill>
              <a:srgbClr val="6B7785"/>
            </a:solidFill>
            <a:prstDash val="solid"/>
            <a:tailEnd type="triangle"/>
          </a:ln>
        </p:spPr>
      </p:sp>
      <p:sp>
        <p:nvSpPr>
          <p:cNvPr id="8" name="Text 6"/>
          <p:cNvSpPr txBox="1"/>
          <p:nvPr/>
        </p:nvSpPr>
        <p:spPr>
          <a:xfrm>
            <a:off x="2743200" y="2926080"/>
            <a:ext cx="2103120" cy="685800"/>
          </a:xfrm>
          <a:prstGeom prst="rect">
            <a:avLst/>
          </a:prstGeom>
          <a:noFill/>
          <a:ln/>
        </p:spPr>
        <p:txBody>
          <a:bodyPr wrap="square" lIns="0" tIns="0" rIns="0" bIns="0" rtlCol="0" anchor="t"/>
          <a:lstStyle/>
          <a:p>
            <a:pPr algn="ctr" indent="0" marL="0">
              <a:buNone/>
            </a:pPr>
            <a:r>
              <a:rPr lang="en-US" sz="1800" dirty="0">
                <a:solidFill>
                  <a:schemeClr val="tx2"/>
                </a:solidFill>
              </a:rPr>
              <a:t>One prompt per endpoint</a:t>
            </a:r>
            <a:endParaRPr lang="en-US" sz="1800" dirty="0"/>
          </a:p>
        </p:txBody>
      </p:sp>
      <p:sp>
        <p:nvSpPr>
          <p:cNvPr id="9" name="Text 7"/>
          <p:cNvSpPr txBox="1"/>
          <p:nvPr/>
        </p:nvSpPr>
        <p:spPr>
          <a:xfrm>
            <a:off x="5120640" y="1600200"/>
            <a:ext cx="1920240" cy="1188720"/>
          </a:xfrm>
          <a:prstGeom prst="roundRect">
            <a:avLst>
              <a:gd name="adj" fmla="val 7692"/>
            </a:avLst>
          </a:prstGeom>
          <a:solidFill>
            <a:schemeClr val="accent1"/>
          </a:solidFill>
          <a:ln>
            <a:solidFill>
              <a:schemeClr val="accent1"/>
            </a:solidFill>
          </a:ln>
        </p:spPr>
        <p:txBody>
          <a:bodyPr wrap="square" lIns="1016" tIns="1016" rIns="1016" bIns="1016" rtlCol="0" anchor="ctr"/>
          <a:lstStyle/>
          <a:p>
            <a:pPr algn="ctr" indent="0" marL="0">
              <a:buNone/>
            </a:pPr>
            <a:r>
              <a:rPr lang="en-US" sz="2000" b="1" dirty="0">
                <a:solidFill>
                  <a:schemeClr val="bg1"/>
                </a:solidFill>
              </a:rPr>
              <a:t>Model call</a:t>
            </a:r>
            <a:endParaRPr lang="en-US" sz="2000" dirty="0"/>
          </a:p>
        </p:txBody>
      </p:sp>
      <p:sp>
        <p:nvSpPr>
          <p:cNvPr id="10" name="Shape 8"/>
          <p:cNvSpPr/>
          <p:nvPr/>
        </p:nvSpPr>
        <p:spPr>
          <a:xfrm>
            <a:off x="7040880" y="2194560"/>
            <a:ext cx="365760" cy="0"/>
          </a:xfrm>
          <a:prstGeom prst="line">
            <a:avLst/>
          </a:prstGeom>
          <a:noFill/>
          <a:ln w="31750">
            <a:solidFill>
              <a:srgbClr val="6B7785"/>
            </a:solidFill>
            <a:prstDash val="solid"/>
            <a:tailEnd type="triangle"/>
          </a:ln>
        </p:spPr>
      </p:sp>
      <p:sp>
        <p:nvSpPr>
          <p:cNvPr id="11" name="Text 9"/>
          <p:cNvSpPr txBox="1"/>
          <p:nvPr/>
        </p:nvSpPr>
        <p:spPr>
          <a:xfrm>
            <a:off x="5029200" y="2926080"/>
            <a:ext cx="2103120" cy="685800"/>
          </a:xfrm>
          <a:prstGeom prst="rect">
            <a:avLst/>
          </a:prstGeom>
          <a:noFill/>
          <a:ln/>
        </p:spPr>
        <p:txBody>
          <a:bodyPr wrap="square" lIns="0" tIns="0" rIns="0" bIns="0" rtlCol="0" anchor="t"/>
          <a:lstStyle/>
          <a:p>
            <a:pPr algn="ctr" indent="0" marL="0">
              <a:buNone/>
            </a:pPr>
            <a:r>
              <a:rPr lang="en-US" sz="1800" dirty="0">
                <a:solidFill>
                  <a:schemeClr val="tx2"/>
                </a:solidFill>
              </a:rPr>
              <a:t>One prompt in, one JSON out</a:t>
            </a:r>
            <a:endParaRPr lang="en-US" sz="1800" dirty="0"/>
          </a:p>
        </p:txBody>
      </p:sp>
      <p:sp>
        <p:nvSpPr>
          <p:cNvPr id="12" name="Text 10"/>
          <p:cNvSpPr txBox="1"/>
          <p:nvPr/>
        </p:nvSpPr>
        <p:spPr>
          <a:xfrm>
            <a:off x="7406640" y="1600200"/>
            <a:ext cx="1920240" cy="1188720"/>
          </a:xfrm>
          <a:prstGeom prst="roundRect">
            <a:avLst>
              <a:gd name="adj" fmla="val 7692"/>
            </a:avLst>
          </a:prstGeom>
          <a:solidFill>
            <a:schemeClr val="bg1"/>
          </a:solidFill>
          <a:ln w="19050">
            <a:solidFill>
              <a:srgbClr val="6B7785"/>
            </a:solidFill>
          </a:ln>
        </p:spPr>
        <p:txBody>
          <a:bodyPr wrap="square" lIns="1016" tIns="1016" rIns="1016" bIns="1016" rtlCol="0" anchor="ctr"/>
          <a:lstStyle/>
          <a:p>
            <a:pPr algn="ctr" indent="0" marL="0">
              <a:buNone/>
            </a:pPr>
            <a:r>
              <a:rPr lang="en-US" sz="2000" b="1" dirty="0">
                <a:solidFill>
                  <a:schemeClr val="tx1"/>
                </a:solidFill>
              </a:rPr>
              <a:t>Retry and rate limits</a:t>
            </a:r>
            <a:endParaRPr lang="en-US" sz="2000" dirty="0"/>
          </a:p>
        </p:txBody>
      </p:sp>
      <p:sp>
        <p:nvSpPr>
          <p:cNvPr id="13" name="Shape 11"/>
          <p:cNvSpPr/>
          <p:nvPr/>
        </p:nvSpPr>
        <p:spPr>
          <a:xfrm>
            <a:off x="9326880" y="2194560"/>
            <a:ext cx="365760" cy="0"/>
          </a:xfrm>
          <a:prstGeom prst="line">
            <a:avLst/>
          </a:prstGeom>
          <a:noFill/>
          <a:ln w="31750">
            <a:solidFill>
              <a:srgbClr val="6B7785"/>
            </a:solidFill>
            <a:prstDash val="solid"/>
            <a:tailEnd type="triangle"/>
          </a:ln>
        </p:spPr>
      </p:sp>
      <p:sp>
        <p:nvSpPr>
          <p:cNvPr id="14" name="Text 12"/>
          <p:cNvSpPr txBox="1"/>
          <p:nvPr/>
        </p:nvSpPr>
        <p:spPr>
          <a:xfrm>
            <a:off x="7315200" y="2926080"/>
            <a:ext cx="2103120" cy="685800"/>
          </a:xfrm>
          <a:prstGeom prst="rect">
            <a:avLst/>
          </a:prstGeom>
          <a:noFill/>
          <a:ln/>
        </p:spPr>
        <p:txBody>
          <a:bodyPr wrap="square" lIns="0" tIns="0" rIns="0" bIns="0" rtlCol="0" anchor="t"/>
          <a:lstStyle/>
          <a:p>
            <a:pPr algn="ctr" indent="0" marL="0">
              <a:buNone/>
            </a:pPr>
            <a:r>
              <a:rPr lang="en-US" sz="1800" dirty="0">
                <a:solidFill>
                  <a:schemeClr val="tx2"/>
                </a:solidFill>
              </a:rPr>
              <a:t>Survives free-tier limits</a:t>
            </a:r>
            <a:endParaRPr lang="en-US" sz="1800" dirty="0"/>
          </a:p>
        </p:txBody>
      </p:sp>
      <p:sp>
        <p:nvSpPr>
          <p:cNvPr id="15" name="Shape 13"/>
          <p:cNvSpPr/>
          <p:nvPr/>
        </p:nvSpPr>
        <p:spPr>
          <a:xfrm>
            <a:off x="9692640" y="1600200"/>
            <a:ext cx="1920240" cy="1188720"/>
          </a:xfrm>
          <a:prstGeom prst="can">
            <a:avLst/>
          </a:prstGeom>
          <a:solidFill>
            <a:schemeClr val="bg1"/>
          </a:solidFill>
          <a:ln w="19050">
            <a:solidFill>
              <a:srgbClr val="6B7785"/>
            </a:solidFill>
            <a:prstDash val="solid"/>
          </a:ln>
        </p:spPr>
      </p:sp>
      <p:sp>
        <p:nvSpPr>
          <p:cNvPr id="16" name="Text 14"/>
          <p:cNvSpPr txBox="1"/>
          <p:nvPr/>
        </p:nvSpPr>
        <p:spPr>
          <a:xfrm>
            <a:off x="9692640" y="1600200"/>
            <a:ext cx="1920240" cy="1188720"/>
          </a:xfrm>
          <a:prstGeom prst="rect">
            <a:avLst/>
          </a:prstGeom>
          <a:noFill/>
          <a:ln/>
        </p:spPr>
        <p:txBody>
          <a:bodyPr wrap="square" lIns="0" tIns="0" rIns="0" bIns="0" rtlCol="0" anchor="ctr"/>
          <a:lstStyle/>
          <a:p>
            <a:pPr algn="ctr" indent="0" marL="0">
              <a:buNone/>
            </a:pPr>
            <a:r>
              <a:rPr lang="en-US" sz="2000" b="1" dirty="0">
                <a:solidFill>
                  <a:schemeClr val="tx1"/>
                </a:solidFill>
              </a:rPr>
              <a:t>Score log</a:t>
            </a:r>
            <a:endParaRPr lang="en-US" sz="2000" dirty="0"/>
          </a:p>
        </p:txBody>
      </p:sp>
      <p:sp>
        <p:nvSpPr>
          <p:cNvPr id="17" name="Text 15"/>
          <p:cNvSpPr txBox="1"/>
          <p:nvPr/>
        </p:nvSpPr>
        <p:spPr>
          <a:xfrm>
            <a:off x="9601200" y="2926080"/>
            <a:ext cx="2103120" cy="685800"/>
          </a:xfrm>
          <a:prstGeom prst="rect">
            <a:avLst/>
          </a:prstGeom>
          <a:noFill/>
          <a:ln/>
        </p:spPr>
        <p:txBody>
          <a:bodyPr wrap="square" lIns="0" tIns="0" rIns="0" bIns="0" rtlCol="0" anchor="t"/>
          <a:lstStyle/>
          <a:p>
            <a:pPr algn="ctr" indent="0" marL="0">
              <a:buNone/>
            </a:pPr>
            <a:r>
              <a:rPr lang="en-US" sz="1800" dirty="0">
                <a:solidFill>
                  <a:schemeClr val="tx2"/>
                </a:solidFill>
              </a:rPr>
              <a:t>Saves every score</a:t>
            </a:r>
            <a:endParaRPr lang="en-US" sz="1800" dirty="0"/>
          </a:p>
        </p:txBody>
      </p:sp>
      <p:sp>
        <p:nvSpPr>
          <p:cNvPr id="18" name="Text 16"/>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800" i="1" dirty="0">
                <a:solidFill>
                  <a:schemeClr val="tx2"/>
                </a:solidFill>
              </a:rPr>
              <a:t>If the guard were a prompt line:</a:t>
            </a:r>
            <a:endParaRPr lang="en-US" sz="1800" dirty="0"/>
          </a:p>
        </p:txBody>
      </p:sp>
      <p:sp>
        <p:nvSpPr>
          <p:cNvPr id="19" name="Text 17"/>
          <p:cNvSpPr txBox="1"/>
          <p:nvPr/>
        </p:nvSpPr>
        <p:spPr>
          <a:xfrm>
            <a:off x="548640" y="4572000"/>
            <a:ext cx="1920240" cy="548640"/>
          </a:xfrm>
          <a:prstGeom prst="roundRect">
            <a:avLst>
              <a:gd name="adj" fmla="val 16667"/>
            </a:avLst>
          </a:prstGeom>
          <a:solidFill>
            <a:srgbClr val="D55E00"/>
          </a:solidFill>
          <a:ln>
            <a:solidFill>
              <a:srgbClr val="D55E00"/>
            </a:solidFill>
          </a:ln>
        </p:spPr>
        <p:txBody>
          <a:bodyPr wrap="square" lIns="1016" tIns="1016" rIns="1016" bIns="1016" rtlCol="0" anchor="ctr"/>
          <a:lstStyle/>
          <a:p>
            <a:pPr algn="ctr" indent="0" marL="0">
              <a:buNone/>
            </a:pPr>
            <a:r>
              <a:rPr lang="en-US" sz="1800" b="1" dirty="0">
                <a:solidFill>
                  <a:srgbClr val="FFFFFF"/>
                </a:solidFill>
              </a:rPr>
              <a:t>follow-up length</a:t>
            </a:r>
            <a:endParaRPr lang="en-US" sz="1800" dirty="0"/>
          </a:p>
        </p:txBody>
      </p:sp>
      <p:sp>
        <p:nvSpPr>
          <p:cNvPr id="20" name="Text 18"/>
          <p:cNvSpPr txBox="1"/>
          <p:nvPr/>
        </p:nvSpPr>
        <p:spPr>
          <a:xfrm>
            <a:off x="2834640" y="4343400"/>
            <a:ext cx="1920240" cy="1005840"/>
          </a:xfrm>
          <a:prstGeom prst="roundRect">
            <a:avLst>
              <a:gd name="adj" fmla="val 9091"/>
            </a:avLst>
          </a:prstGeom>
          <a:solidFill>
            <a:schemeClr val="bg1"/>
          </a:solidFill>
          <a:ln w="19050">
            <a:solidFill>
              <a:srgbClr val="6B7785"/>
            </a:solidFill>
            <a:prstDash val="dash"/>
          </a:ln>
        </p:spPr>
        <p:txBody>
          <a:bodyPr wrap="square" lIns="1016" tIns="1016" rIns="1016" bIns="1016" rtlCol="0" anchor="ctr"/>
          <a:lstStyle/>
          <a:p>
            <a:pPr algn="ctr" indent="0" marL="0">
              <a:buNone/>
            </a:pPr>
            <a:r>
              <a:rPr lang="en-US" sz="1800" dirty="0">
                <a:solidFill>
                  <a:schemeClr val="tx1"/>
                </a:solidFill>
              </a:rPr>
              <a:t>Prompt: “ignore follow-up length”</a:t>
            </a:r>
            <a:endParaRPr lang="en-US" sz="1800" dirty="0"/>
          </a:p>
        </p:txBody>
      </p:sp>
      <p:sp>
        <p:nvSpPr>
          <p:cNvPr id="21" name="Text 19"/>
          <p:cNvSpPr txBox="1"/>
          <p:nvPr/>
        </p:nvSpPr>
        <p:spPr>
          <a:xfrm>
            <a:off x="5120640" y="4343400"/>
            <a:ext cx="1920240" cy="1005840"/>
          </a:xfrm>
          <a:prstGeom prst="roundRect">
            <a:avLst>
              <a:gd name="adj" fmla="val 9091"/>
            </a:avLst>
          </a:prstGeom>
          <a:solidFill>
            <a:schemeClr val="bg1"/>
          </a:solidFill>
          <a:ln w="19050">
            <a:solidFill>
              <a:srgbClr val="6B7785"/>
            </a:solidFill>
            <a:prstDash val="dash"/>
          </a:ln>
        </p:spPr>
        <p:txBody>
          <a:bodyPr wrap="square" lIns="1016" tIns="1016" rIns="1016" bIns="1016" rtlCol="0" anchor="ctr"/>
          <a:lstStyle/>
          <a:p>
            <a:pPr algn="ctr" indent="0" marL="0">
              <a:buNone/>
            </a:pPr>
            <a:r>
              <a:rPr lang="en-US" sz="2000" b="1" dirty="0">
                <a:solidFill>
                  <a:schemeClr val="tx1"/>
                </a:solidFill>
              </a:rPr>
              <a:t>Model</a:t>
            </a:r>
            <a:endParaRPr lang="en-US" sz="2000" dirty="0"/>
          </a:p>
        </p:txBody>
      </p:sp>
      <p:sp>
        <p:nvSpPr>
          <p:cNvPr id="22" name="Shape 20"/>
          <p:cNvSpPr/>
          <p:nvPr/>
        </p:nvSpPr>
        <p:spPr>
          <a:xfrm>
            <a:off x="2468880" y="4846320"/>
            <a:ext cx="365760" cy="0"/>
          </a:xfrm>
          <a:prstGeom prst="line">
            <a:avLst/>
          </a:prstGeom>
          <a:noFill/>
          <a:ln w="31750">
            <a:solidFill>
              <a:srgbClr val="D55E00"/>
            </a:solidFill>
            <a:prstDash val="solid"/>
            <a:tailEnd type="triangle"/>
          </a:ln>
        </p:spPr>
      </p:sp>
      <p:sp>
        <p:nvSpPr>
          <p:cNvPr id="23" name="Shape 21"/>
          <p:cNvSpPr/>
          <p:nvPr/>
        </p:nvSpPr>
        <p:spPr>
          <a:xfrm>
            <a:off x="4754880" y="4846320"/>
            <a:ext cx="365760" cy="0"/>
          </a:xfrm>
          <a:prstGeom prst="line">
            <a:avLst/>
          </a:prstGeom>
          <a:noFill/>
          <a:ln w="31750">
            <a:solidFill>
              <a:srgbClr val="D55E00"/>
            </a:solidFill>
            <a:prstDash val="solid"/>
            <a:tailEnd type="triangle"/>
          </a:ln>
        </p:spPr>
      </p:sp>
      <p:sp>
        <p:nvSpPr>
          <p:cNvPr id="24" name="Text 22"/>
          <p:cNvSpPr txBox="1"/>
          <p:nvPr/>
        </p:nvSpPr>
        <p:spPr>
          <a:xfrm>
            <a:off x="7315200" y="4343400"/>
            <a:ext cx="4389120" cy="1005840"/>
          </a:xfrm>
          <a:prstGeom prst="rect">
            <a:avLst/>
          </a:prstGeom>
          <a:noFill/>
          <a:ln/>
        </p:spPr>
        <p:txBody>
          <a:bodyPr wrap="square" lIns="0" tIns="0" rIns="0" bIns="0" rtlCol="0" anchor="ctr"/>
          <a:lstStyle/>
          <a:p>
            <a:pPr indent="0" marL="0">
              <a:buNone/>
            </a:pPr>
            <a:r>
              <a:rPr lang="en-US" sz="2000" b="1" dirty="0">
                <a:solidFill>
                  <a:srgbClr val="D55E00"/>
                </a:solidFill>
              </a:rPr>
              <a:t>still reaches the model</a:t>
            </a:r>
            <a:endParaRPr lang="en-US" sz="2000" dirty="0"/>
          </a:p>
        </p:txBody>
      </p:sp>
      <p:sp>
        <p:nvSpPr>
          <p:cNvPr id="25" name="Text 23"/>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The model picks no tools and no next steps.</a:t>
            </a:r>
            <a:endParaRPr lang="en-US" sz="1800" dirty="0"/>
          </a:p>
        </p:txBody>
      </p:sp>
      <p:sp>
        <p:nvSpPr>
          <p:cNvPr id="26" name="Text 24"/>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Schematic of the harness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A weak ranker helps only when its</a:t>
            </a:r>
            <a:endParaRPr lang="en-US" sz="2800" dirty="0"/>
          </a:p>
          <a:p>
            <a:pPr algn="l" indent="0" marL="0">
              <a:buNone/>
            </a:pPr>
            <a:r>
              <a:rPr lang="en-US" sz="2800" b="1" dirty="0">
                <a:solidFill>
                  <a:schemeClr val="tx1"/>
                </a:solidFill>
              </a:rPr>
              <a:t>mistakes differ from the strong model's</a:t>
            </a:r>
            <a:endParaRPr lang="en-US" sz="2800" dirty="0"/>
          </a:p>
        </p:txBody>
      </p:sp>
      <p:graphicFrame>
        <p:nvGraphicFramePr>
          <p:cNvPr id="3" name="Chart 0" descr="Three lines of C-index against the weight on the LLM ranks. With independent mistakes the line rises above the tabular score before falling; with shared mistakes it only falls."/>
          <p:cNvGraphicFramePr/>
          <p:nvPr/>
        </p:nvGraphicFramePr>
        <p:xfrm>
          <a:off x="548640" y="146304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9427464" y="1645920"/>
            <a:ext cx="548640" cy="548640"/>
          </a:xfrm>
          <a:prstGeom prst="ellipse">
            <a:avLst/>
          </a:prstGeom>
          <a:solidFill>
            <a:srgbClr val="0072B2">
              <a:alpha val="35000"/>
            </a:srgbClr>
          </a:solidFill>
          <a:ln w="31750">
            <a:solidFill>
              <a:srgbClr val="0072B2"/>
            </a:solidFill>
            <a:prstDash val="solid"/>
          </a:ln>
        </p:spPr>
      </p:sp>
      <p:sp>
        <p:nvSpPr>
          <p:cNvPr id="5" name="Shape 2"/>
          <p:cNvSpPr/>
          <p:nvPr/>
        </p:nvSpPr>
        <p:spPr>
          <a:xfrm>
            <a:off x="9866376" y="1645920"/>
            <a:ext cx="548640" cy="548640"/>
          </a:xfrm>
          <a:prstGeom prst="ellipse">
            <a:avLst/>
          </a:prstGeom>
          <a:solidFill>
            <a:srgbClr val="0072B2">
              <a:alpha val="35000"/>
            </a:srgbClr>
          </a:solidFill>
          <a:ln w="31750">
            <a:solidFill>
              <a:srgbClr val="0072B2"/>
            </a:solidFill>
            <a:prstDash val="solid"/>
          </a:ln>
        </p:spPr>
      </p:sp>
      <p:sp>
        <p:nvSpPr>
          <p:cNvPr id="6" name="Text 3"/>
          <p:cNvSpPr txBox="1"/>
          <p:nvPr/>
        </p:nvSpPr>
        <p:spPr>
          <a:xfrm>
            <a:off x="8229600" y="2240280"/>
            <a:ext cx="3383280" cy="640080"/>
          </a:xfrm>
          <a:prstGeom prst="rect">
            <a:avLst/>
          </a:prstGeom>
          <a:noFill/>
          <a:ln/>
        </p:spPr>
        <p:txBody>
          <a:bodyPr wrap="square" lIns="0" tIns="0" rIns="0" bIns="0" rtlCol="0" anchor="t"/>
          <a:lstStyle/>
          <a:p>
            <a:pPr algn="ctr" indent="0" marL="0">
              <a:buNone/>
            </a:pPr>
            <a:r>
              <a:rPr lang="en-US" sz="1800" b="1" dirty="0">
                <a:solidFill>
                  <a:schemeClr val="tx1"/>
                </a:solidFill>
              </a:rPr>
              <a:t>mistakes differ</a:t>
            </a:r>
            <a:endParaRPr lang="en-US" sz="1800" dirty="0"/>
          </a:p>
          <a:p>
            <a:pPr algn="ctr" indent="0" marL="0">
              <a:buNone/>
            </a:pPr>
            <a:r>
              <a:rPr lang="en-US" sz="1800" dirty="0">
                <a:solidFill>
                  <a:srgbClr val="6B7785"/>
                </a:solidFill>
              </a:rPr>
              <a:t>correlation 0.0</a:t>
            </a:r>
            <a:endParaRPr lang="en-US" sz="1800" dirty="0"/>
          </a:p>
        </p:txBody>
      </p:sp>
      <p:sp>
        <p:nvSpPr>
          <p:cNvPr id="7" name="Shape 4"/>
          <p:cNvSpPr/>
          <p:nvPr/>
        </p:nvSpPr>
        <p:spPr>
          <a:xfrm>
            <a:off x="9496044" y="3017520"/>
            <a:ext cx="548640" cy="548640"/>
          </a:xfrm>
          <a:prstGeom prst="ellipse">
            <a:avLst/>
          </a:prstGeom>
          <a:solidFill>
            <a:srgbClr val="56B4E9">
              <a:alpha val="35000"/>
            </a:srgbClr>
          </a:solidFill>
          <a:ln w="31750">
            <a:solidFill>
              <a:srgbClr val="56B4E9"/>
            </a:solidFill>
            <a:prstDash val="solid"/>
          </a:ln>
        </p:spPr>
      </p:sp>
      <p:sp>
        <p:nvSpPr>
          <p:cNvPr id="8" name="Shape 5"/>
          <p:cNvSpPr/>
          <p:nvPr/>
        </p:nvSpPr>
        <p:spPr>
          <a:xfrm>
            <a:off x="9797796" y="3017520"/>
            <a:ext cx="548640" cy="548640"/>
          </a:xfrm>
          <a:prstGeom prst="ellipse">
            <a:avLst/>
          </a:prstGeom>
          <a:solidFill>
            <a:srgbClr val="56B4E9">
              <a:alpha val="35000"/>
            </a:srgbClr>
          </a:solidFill>
          <a:ln w="31750">
            <a:solidFill>
              <a:srgbClr val="56B4E9"/>
            </a:solidFill>
            <a:prstDash val="solid"/>
          </a:ln>
        </p:spPr>
      </p:sp>
      <p:sp>
        <p:nvSpPr>
          <p:cNvPr id="9" name="Text 6"/>
          <p:cNvSpPr txBox="1"/>
          <p:nvPr/>
        </p:nvSpPr>
        <p:spPr>
          <a:xfrm>
            <a:off x="8229600" y="3611880"/>
            <a:ext cx="3383280" cy="640080"/>
          </a:xfrm>
          <a:prstGeom prst="rect">
            <a:avLst/>
          </a:prstGeom>
          <a:noFill/>
          <a:ln/>
        </p:spPr>
        <p:txBody>
          <a:bodyPr wrap="square" lIns="0" tIns="0" rIns="0" bIns="0" rtlCol="0" anchor="t"/>
          <a:lstStyle/>
          <a:p>
            <a:pPr algn="ctr" indent="0" marL="0">
              <a:buNone/>
            </a:pPr>
            <a:r>
              <a:rPr lang="en-US" sz="1800" b="1" dirty="0">
                <a:solidFill>
                  <a:schemeClr val="tx1"/>
                </a:solidFill>
              </a:rPr>
              <a:t>some shared</a:t>
            </a:r>
            <a:endParaRPr lang="en-US" sz="1800" dirty="0"/>
          </a:p>
          <a:p>
            <a:pPr algn="ctr" indent="0" marL="0">
              <a:buNone/>
            </a:pPr>
            <a:r>
              <a:rPr lang="en-US" sz="1800" dirty="0">
                <a:solidFill>
                  <a:srgbClr val="6B7785"/>
                </a:solidFill>
              </a:rPr>
              <a:t>correlation 0.3</a:t>
            </a:r>
            <a:endParaRPr lang="en-US" sz="1800" dirty="0"/>
          </a:p>
        </p:txBody>
      </p:sp>
      <p:sp>
        <p:nvSpPr>
          <p:cNvPr id="10" name="Shape 7"/>
          <p:cNvSpPr/>
          <p:nvPr/>
        </p:nvSpPr>
        <p:spPr>
          <a:xfrm>
            <a:off x="9578340" y="4389120"/>
            <a:ext cx="548640" cy="548640"/>
          </a:xfrm>
          <a:prstGeom prst="ellipse">
            <a:avLst/>
          </a:prstGeom>
          <a:solidFill>
            <a:srgbClr val="D55E00">
              <a:alpha val="35000"/>
            </a:srgbClr>
          </a:solidFill>
          <a:ln w="31750">
            <a:solidFill>
              <a:srgbClr val="D55E00"/>
            </a:solidFill>
            <a:prstDash val="solid"/>
          </a:ln>
        </p:spPr>
      </p:sp>
      <p:sp>
        <p:nvSpPr>
          <p:cNvPr id="11" name="Shape 8"/>
          <p:cNvSpPr/>
          <p:nvPr/>
        </p:nvSpPr>
        <p:spPr>
          <a:xfrm>
            <a:off x="9715500" y="4389120"/>
            <a:ext cx="548640" cy="548640"/>
          </a:xfrm>
          <a:prstGeom prst="ellipse">
            <a:avLst/>
          </a:prstGeom>
          <a:solidFill>
            <a:srgbClr val="D55E00">
              <a:alpha val="35000"/>
            </a:srgbClr>
          </a:solidFill>
          <a:ln w="31750">
            <a:solidFill>
              <a:srgbClr val="D55E00"/>
            </a:solidFill>
            <a:prstDash val="solid"/>
          </a:ln>
        </p:spPr>
      </p:sp>
      <p:sp>
        <p:nvSpPr>
          <p:cNvPr id="12" name="Text 9"/>
          <p:cNvSpPr txBox="1"/>
          <p:nvPr/>
        </p:nvSpPr>
        <p:spPr>
          <a:xfrm>
            <a:off x="8229600" y="4983480"/>
            <a:ext cx="3383280" cy="640080"/>
          </a:xfrm>
          <a:prstGeom prst="rect">
            <a:avLst/>
          </a:prstGeom>
          <a:noFill/>
          <a:ln/>
        </p:spPr>
        <p:txBody>
          <a:bodyPr wrap="square" lIns="0" tIns="0" rIns="0" bIns="0" rtlCol="0" anchor="t"/>
          <a:lstStyle/>
          <a:p>
            <a:pPr algn="ctr" indent="0" marL="0">
              <a:buNone/>
            </a:pPr>
            <a:r>
              <a:rPr lang="en-US" sz="1800" b="1" dirty="0">
                <a:solidFill>
                  <a:schemeClr val="tx1"/>
                </a:solidFill>
              </a:rPr>
              <a:t>mostly shared</a:t>
            </a:r>
            <a:endParaRPr lang="en-US" sz="1800" dirty="0"/>
          </a:p>
          <a:p>
            <a:pPr algn="ctr" indent="0" marL="0">
              <a:buNone/>
            </a:pPr>
            <a:r>
              <a:rPr lang="en-US" sz="1800" dirty="0">
                <a:solidFill>
                  <a:srgbClr val="6B7785"/>
                </a:solidFill>
              </a:rPr>
              <a:t>correlation 0.6</a:t>
            </a:r>
            <a:endParaRPr lang="en-US" sz="1800" dirty="0"/>
          </a:p>
        </p:txBody>
      </p:sp>
      <p:sp>
        <p:nvSpPr>
          <p:cNvPr id="13" name="Text 10"/>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Independent mistakes: a weak model adds signal. Shared mistakes: it only adds noise.</a:t>
            </a:r>
            <a:endParaRPr lang="en-US" sz="1800" dirty="0"/>
          </a:p>
        </p:txBody>
      </p:sp>
      <p:sp>
        <p:nvSpPr>
          <p:cNvPr id="14" name="Text 11"/>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cohort, simulated rankers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Two cheap checks show early whether</a:t>
            </a:r>
            <a:endParaRPr lang="en-US" sz="2800" dirty="0"/>
          </a:p>
          <a:p>
            <a:pPr algn="l" indent="0" marL="0">
              <a:buNone/>
            </a:pPr>
            <a:r>
              <a:rPr lang="en-US" sz="2800" b="1" dirty="0">
                <a:solidFill>
                  <a:schemeClr val="tx1"/>
                </a:solidFill>
              </a:rPr>
              <a:t>a new ranker is worth its API calls</a:t>
            </a:r>
            <a:endParaRPr lang="en-US" sz="2800" dirty="0"/>
          </a:p>
        </p:txBody>
      </p:sp>
      <p:graphicFrame>
        <p:nvGraphicFramePr>
          <p:cNvPr id="3" name="Chart 0" descr="Best blend gain falls to zero as the rank correlation between the LLM and the tabular model rises."/>
          <p:cNvGraphicFramePr/>
          <p:nvPr/>
        </p:nvGraphicFramePr>
        <p:xfrm>
          <a:off x="548640" y="1463040"/>
          <a:ext cx="594360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Unique score values for an LLM scored on 5, 20 and 100 levels: 6, 21 and 101."/>
          <p:cNvGraphicFramePr/>
          <p:nvPr/>
        </p:nvGraphicFramePr>
        <p:xfrm>
          <a:off x="6766560" y="1463040"/>
          <a:ext cx="4846320" cy="4343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Lower rank correlation means more new information.</a:t>
            </a:r>
            <a:endParaRPr lang="en-US" sz="1800" dirty="0"/>
          </a:p>
        </p:txBody>
      </p:sp>
      <p:sp>
        <p:nvSpPr>
          <p:cNvPr id="6"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synthetic cohort, simulated rankers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We submitted the LLM inside a</a:t>
            </a:r>
            <a:endParaRPr lang="en-US" sz="2800" dirty="0"/>
          </a:p>
          <a:p>
            <a:pPr algn="l" indent="0" marL="0">
              <a:buNone/>
            </a:pPr>
            <a:r>
              <a:rPr lang="en-US" sz="2800" b="1" dirty="0">
                <a:solidFill>
                  <a:schemeClr val="tx1"/>
                </a:solidFill>
              </a:rPr>
              <a:t>two-stage rank blend, at a small weight</a:t>
            </a:r>
            <a:endParaRPr lang="en-US" sz="2800" dirty="0"/>
          </a:p>
        </p:txBody>
      </p:sp>
      <p:sp>
        <p:nvSpPr>
          <p:cNvPr id="3" name="Text 1"/>
          <p:cNvSpPr txBox="1"/>
          <p:nvPr/>
        </p:nvSpPr>
        <p:spPr>
          <a:xfrm>
            <a:off x="548640" y="1737360"/>
            <a:ext cx="2926080" cy="1005840"/>
          </a:xfrm>
          <a:prstGeom prst="roundRect">
            <a:avLst>
              <a:gd name="adj" fmla="val 9091"/>
            </a:avLst>
          </a:prstGeom>
          <a:solidFill>
            <a:schemeClr val="bg1"/>
          </a:solidFill>
          <a:ln w="19050">
            <a:solidFill>
              <a:srgbClr val="6B7785"/>
            </a:solidFill>
          </a:ln>
        </p:spPr>
        <p:txBody>
          <a:bodyPr wrap="square" lIns="1016" tIns="1016" rIns="1016" bIns="1016" rtlCol="0" anchor="ctr"/>
          <a:lstStyle/>
          <a:p>
            <a:pPr algn="ctr" indent="0" marL="0">
              <a:buNone/>
            </a:pPr>
            <a:endParaRPr lang="en-US" sz="1800" dirty="0"/>
          </a:p>
        </p:txBody>
      </p:sp>
      <p:pic>
        <p:nvPicPr>
          <p:cNvPr id="4" name="Image 0" descr="Image tiles icon">    </p:cNvPr>
          <p:cNvPicPr>
            <a:picLocks noChangeAspect="1"/>
          </p:cNvPicPr>
          <p:nvPr/>
        </p:nvPicPr>
        <p:blipFill>
          <a:blip r:embed="rId1"/>
          <a:stretch>
            <a:fillRect/>
          </a:stretch>
        </p:blipFill>
        <p:spPr>
          <a:xfrm>
            <a:off x="731520" y="1965960"/>
            <a:ext cx="548640" cy="548640"/>
          </a:xfrm>
          <a:prstGeom prst="rect">
            <a:avLst/>
          </a:prstGeom>
        </p:spPr>
      </p:pic>
      <p:sp>
        <p:nvSpPr>
          <p:cNvPr id="5" name="Text 2"/>
          <p:cNvSpPr txBox="1"/>
          <p:nvPr/>
        </p:nvSpPr>
        <p:spPr>
          <a:xfrm>
            <a:off x="1417320" y="1737360"/>
            <a:ext cx="1920240" cy="1005840"/>
          </a:xfrm>
          <a:prstGeom prst="rect">
            <a:avLst/>
          </a:prstGeom>
          <a:noFill/>
          <a:ln/>
        </p:spPr>
        <p:txBody>
          <a:bodyPr wrap="square" lIns="0" tIns="0" rIns="0" bIns="0" rtlCol="0" anchor="ctr"/>
          <a:lstStyle/>
          <a:p>
            <a:pPr indent="0" marL="0">
              <a:buNone/>
            </a:pPr>
            <a:r>
              <a:rPr lang="en-US" sz="1800" b="1" dirty="0">
                <a:solidFill>
                  <a:schemeClr val="tx1"/>
                </a:solidFill>
              </a:rPr>
              <a:t>EfficientNet-B0</a:t>
            </a:r>
            <a:endParaRPr lang="en-US" sz="1800" dirty="0"/>
          </a:p>
          <a:p>
            <a:pPr indent="0" marL="0">
              <a:buNone/>
            </a:pPr>
            <a:r>
              <a:rPr lang="en-US" sz="1800" dirty="0">
                <a:solidFill>
                  <a:schemeClr val="tx1"/>
                </a:solidFill>
              </a:rPr>
              <a:t>image + tabular</a:t>
            </a:r>
            <a:endParaRPr lang="en-US" sz="1800" dirty="0"/>
          </a:p>
        </p:txBody>
      </p:sp>
      <p:sp>
        <p:nvSpPr>
          <p:cNvPr id="6" name="Text 3"/>
          <p:cNvSpPr txBox="1"/>
          <p:nvPr/>
        </p:nvSpPr>
        <p:spPr>
          <a:xfrm>
            <a:off x="548640" y="3017520"/>
            <a:ext cx="2926080" cy="1005840"/>
          </a:xfrm>
          <a:prstGeom prst="roundRect">
            <a:avLst>
              <a:gd name="adj" fmla="val 9091"/>
            </a:avLst>
          </a:prstGeom>
          <a:solidFill>
            <a:schemeClr val="bg1"/>
          </a:solidFill>
          <a:ln w="19050">
            <a:solidFill>
              <a:srgbClr val="6B7785"/>
            </a:solidFill>
          </a:ln>
        </p:spPr>
        <p:txBody>
          <a:bodyPr wrap="square" lIns="1016" tIns="1016" rIns="1016" bIns="1016" rtlCol="0" anchor="ctr"/>
          <a:lstStyle/>
          <a:p>
            <a:pPr algn="ctr" indent="0" marL="0">
              <a:buNone/>
            </a:pPr>
            <a:endParaRPr lang="en-US" sz="1800" dirty="0"/>
          </a:p>
        </p:txBody>
      </p:sp>
      <p:pic>
        <p:nvPicPr>
          <p:cNvPr id="7" name="Image 1" descr="Clinical note icon">    </p:cNvPr>
          <p:cNvPicPr>
            <a:picLocks noChangeAspect="1"/>
          </p:cNvPicPr>
          <p:nvPr/>
        </p:nvPicPr>
        <p:blipFill>
          <a:blip r:embed="rId2"/>
          <a:stretch>
            <a:fillRect/>
          </a:stretch>
        </p:blipFill>
        <p:spPr>
          <a:xfrm>
            <a:off x="731520" y="3246120"/>
            <a:ext cx="548640" cy="548640"/>
          </a:xfrm>
          <a:prstGeom prst="rect">
            <a:avLst/>
          </a:prstGeom>
        </p:spPr>
      </p:pic>
      <p:sp>
        <p:nvSpPr>
          <p:cNvPr id="8" name="Text 4"/>
          <p:cNvSpPr txBox="1"/>
          <p:nvPr/>
        </p:nvSpPr>
        <p:spPr>
          <a:xfrm>
            <a:off x="1417320" y="3017520"/>
            <a:ext cx="1920240" cy="1005840"/>
          </a:xfrm>
          <a:prstGeom prst="rect">
            <a:avLst/>
          </a:prstGeom>
          <a:noFill/>
          <a:ln/>
        </p:spPr>
        <p:txBody>
          <a:bodyPr wrap="square" lIns="0" tIns="0" rIns="0" bIns="0" rtlCol="0" anchor="ctr"/>
          <a:lstStyle/>
          <a:p>
            <a:pPr indent="0" marL="0">
              <a:buNone/>
            </a:pPr>
            <a:r>
              <a:rPr lang="en-US" sz="1800" b="1" dirty="0">
                <a:solidFill>
                  <a:schemeClr val="tx1"/>
                </a:solidFill>
              </a:rPr>
              <a:t>GPT-OSS</a:t>
            </a:r>
            <a:endParaRPr lang="en-US" sz="1800" dirty="0"/>
          </a:p>
          <a:p>
            <a:pPr indent="0" marL="0">
              <a:buNone/>
            </a:pPr>
            <a:r>
              <a:rPr lang="en-US" sz="1800" dirty="0">
                <a:solidFill>
                  <a:schemeClr val="tx1"/>
                </a:solidFill>
              </a:rPr>
              <a:t>split-endpoint scores</a:t>
            </a:r>
            <a:endParaRPr lang="en-US" sz="1800" dirty="0"/>
          </a:p>
        </p:txBody>
      </p:sp>
      <p:sp>
        <p:nvSpPr>
          <p:cNvPr id="9" name="Text 5"/>
          <p:cNvSpPr txBox="1"/>
          <p:nvPr/>
        </p:nvSpPr>
        <p:spPr>
          <a:xfrm>
            <a:off x="4297680" y="2103120"/>
            <a:ext cx="2286000" cy="1371600"/>
          </a:xfrm>
          <a:prstGeom prst="roundRect">
            <a:avLst>
              <a:gd name="adj" fmla="val 6667"/>
            </a:avLst>
          </a:prstGeom>
          <a:solidFill>
            <a:schemeClr val="bg1"/>
          </a:solidFill>
          <a:ln w="38100">
            <a:solidFill>
              <a:srgbClr val="0072B2"/>
            </a:solidFill>
          </a:ln>
        </p:spPr>
        <p:txBody>
          <a:bodyPr wrap="square" lIns="1016" tIns="1016" rIns="1016" bIns="1016" rtlCol="0" anchor="ctr"/>
          <a:lstStyle/>
          <a:p>
            <a:pPr algn="ctr" indent="0" marL="0">
              <a:buNone/>
            </a:pPr>
            <a:r>
              <a:rPr lang="en-US" sz="1800" b="1" dirty="0">
                <a:solidFill>
                  <a:schemeClr val="tx1"/>
                </a:solidFill>
              </a:rPr>
              <a:t>Stage 1</a:t>
            </a:r>
            <a:endParaRPr lang="en-US" sz="1800" dirty="0"/>
          </a:p>
          <a:p>
            <a:pPr algn="ctr" indent="0" marL="0">
              <a:buNone/>
            </a:pPr>
            <a:r>
              <a:rPr lang="en-US" sz="1800" dirty="0">
                <a:solidFill>
                  <a:schemeClr val="tx1"/>
                </a:solidFill>
              </a:rPr>
              <a:t>50/50 rank blend</a:t>
            </a:r>
            <a:endParaRPr lang="en-US" sz="1800" dirty="0"/>
          </a:p>
        </p:txBody>
      </p:sp>
      <p:sp>
        <p:nvSpPr>
          <p:cNvPr id="10" name="Shape 6"/>
          <p:cNvSpPr/>
          <p:nvPr/>
        </p:nvSpPr>
        <p:spPr>
          <a:xfrm>
            <a:off x="3474720" y="2240280"/>
            <a:ext cx="822960" cy="365760"/>
          </a:xfrm>
          <a:prstGeom prst="line">
            <a:avLst/>
          </a:prstGeom>
          <a:noFill/>
          <a:ln w="31750">
            <a:solidFill>
              <a:srgbClr val="6B7785"/>
            </a:solidFill>
            <a:prstDash val="solid"/>
            <a:tailEnd type="triangle"/>
          </a:ln>
        </p:spPr>
      </p:sp>
      <p:sp>
        <p:nvSpPr>
          <p:cNvPr id="11" name="Shape 7"/>
          <p:cNvSpPr/>
          <p:nvPr/>
        </p:nvSpPr>
        <p:spPr>
          <a:xfrm flipV="1">
            <a:off x="3474720" y="2971800"/>
            <a:ext cx="822960" cy="548640"/>
          </a:xfrm>
          <a:prstGeom prst="line">
            <a:avLst/>
          </a:prstGeom>
          <a:noFill/>
          <a:ln w="31750">
            <a:solidFill>
              <a:srgbClr val="6B7785"/>
            </a:solidFill>
            <a:prstDash val="solid"/>
            <a:tailEnd type="triangle"/>
          </a:ln>
        </p:spPr>
      </p:sp>
      <p:sp>
        <p:nvSpPr>
          <p:cNvPr id="12" name="Text 8"/>
          <p:cNvSpPr txBox="1"/>
          <p:nvPr/>
        </p:nvSpPr>
        <p:spPr>
          <a:xfrm>
            <a:off x="4114800" y="4663440"/>
            <a:ext cx="2651760" cy="1097280"/>
          </a:xfrm>
          <a:prstGeom prst="roundRect">
            <a:avLst>
              <a:gd name="adj" fmla="val 8333"/>
            </a:avLst>
          </a:prstGeom>
          <a:solidFill>
            <a:schemeClr val="bg1"/>
          </a:solidFill>
          <a:ln w="19050">
            <a:solidFill>
              <a:srgbClr val="6B7785"/>
            </a:solidFill>
          </a:ln>
        </p:spPr>
        <p:txBody>
          <a:bodyPr wrap="square" lIns="1016" tIns="1016" rIns="1016" bIns="1016" rtlCol="0" anchor="ctr"/>
          <a:lstStyle/>
          <a:p>
            <a:pPr algn="ctr" indent="0" marL="0">
              <a:buNone/>
            </a:pPr>
            <a:endParaRPr lang="en-US" sz="1800" dirty="0"/>
          </a:p>
        </p:txBody>
      </p:sp>
      <p:pic>
        <p:nvPicPr>
          <p:cNvPr id="13" name="Image 2" descr="Tree icon">    </p:cNvPr>
          <p:cNvPicPr>
            <a:picLocks noChangeAspect="1"/>
          </p:cNvPicPr>
          <p:nvPr/>
        </p:nvPicPr>
        <p:blipFill>
          <a:blip r:embed="rId3"/>
          <a:stretch>
            <a:fillRect/>
          </a:stretch>
        </p:blipFill>
        <p:spPr>
          <a:xfrm>
            <a:off x="4297680" y="4937760"/>
            <a:ext cx="548640" cy="548640"/>
          </a:xfrm>
          <a:prstGeom prst="rect">
            <a:avLst/>
          </a:prstGeom>
        </p:spPr>
      </p:pic>
      <p:sp>
        <p:nvSpPr>
          <p:cNvPr id="14" name="Text 9"/>
          <p:cNvSpPr txBox="1"/>
          <p:nvPr/>
        </p:nvSpPr>
        <p:spPr>
          <a:xfrm>
            <a:off x="4983480" y="4663440"/>
            <a:ext cx="1645920" cy="1097280"/>
          </a:xfrm>
          <a:prstGeom prst="rect">
            <a:avLst/>
          </a:prstGeom>
          <a:noFill/>
          <a:ln/>
        </p:spPr>
        <p:txBody>
          <a:bodyPr wrap="square" lIns="0" tIns="0" rIns="0" bIns="0" rtlCol="0" anchor="ctr"/>
          <a:lstStyle/>
          <a:p>
            <a:pPr indent="0" marL="0">
              <a:buNone/>
            </a:pPr>
            <a:r>
              <a:rPr lang="en-US" sz="1800" b="1" dirty="0">
                <a:solidFill>
                  <a:schemeClr val="tx1"/>
                </a:solidFill>
              </a:rPr>
              <a:t>Tabular base</a:t>
            </a:r>
            <a:endParaRPr lang="en-US" sz="1800" dirty="0"/>
          </a:p>
          <a:p>
            <a:pPr indent="0" marL="0">
              <a:buNone/>
            </a:pPr>
            <a:r>
              <a:rPr lang="en-US" sz="1800" dirty="0">
                <a:solidFill>
                  <a:schemeClr val="tx1"/>
                </a:solidFill>
              </a:rPr>
              <a:t>10 seeds</a:t>
            </a:r>
            <a:endParaRPr lang="en-US" sz="1800" dirty="0"/>
          </a:p>
        </p:txBody>
      </p:sp>
      <p:sp>
        <p:nvSpPr>
          <p:cNvPr id="15" name="Text 10"/>
          <p:cNvSpPr txBox="1"/>
          <p:nvPr/>
        </p:nvSpPr>
        <p:spPr>
          <a:xfrm>
            <a:off x="7680960" y="3200400"/>
            <a:ext cx="2103120" cy="1371600"/>
          </a:xfrm>
          <a:prstGeom prst="roundRect">
            <a:avLst>
              <a:gd name="adj" fmla="val 6667"/>
            </a:avLst>
          </a:prstGeom>
          <a:solidFill>
            <a:schemeClr val="bg1"/>
          </a:solidFill>
          <a:ln w="38100">
            <a:solidFill>
              <a:srgbClr val="0072B2"/>
            </a:solidFill>
          </a:ln>
        </p:spPr>
        <p:txBody>
          <a:bodyPr wrap="square" lIns="1016" tIns="1016" rIns="1016" bIns="1016" rtlCol="0" anchor="ctr"/>
          <a:lstStyle/>
          <a:p>
            <a:pPr algn="ctr" indent="0" marL="0">
              <a:buNone/>
            </a:pPr>
            <a:r>
              <a:rPr lang="en-US" sz="1800" b="1" dirty="0">
                <a:solidFill>
                  <a:schemeClr val="tx1"/>
                </a:solidFill>
              </a:rPr>
              <a:t>Stage 2</a:t>
            </a:r>
            <a:endParaRPr lang="en-US" sz="1800" dirty="0"/>
          </a:p>
          <a:p>
            <a:pPr algn="ctr" indent="0" marL="0">
              <a:buNone/>
            </a:pPr>
            <a:r>
              <a:rPr lang="en-US" sz="1800" dirty="0">
                <a:solidFill>
                  <a:schemeClr val="tx1"/>
                </a:solidFill>
              </a:rPr>
              <a:t>rank blend</a:t>
            </a:r>
            <a:endParaRPr lang="en-US" sz="1800" dirty="0"/>
          </a:p>
        </p:txBody>
      </p:sp>
      <p:sp>
        <p:nvSpPr>
          <p:cNvPr id="16" name="Shape 11"/>
          <p:cNvSpPr/>
          <p:nvPr/>
        </p:nvSpPr>
        <p:spPr>
          <a:xfrm>
            <a:off x="6583680" y="2788920"/>
            <a:ext cx="1097280" cy="822960"/>
          </a:xfrm>
          <a:prstGeom prst="line">
            <a:avLst/>
          </a:prstGeom>
          <a:noFill/>
          <a:ln w="31750">
            <a:solidFill>
              <a:srgbClr val="6B7785"/>
            </a:solidFill>
            <a:prstDash val="solid"/>
            <a:tailEnd type="triangle"/>
          </a:ln>
        </p:spPr>
      </p:sp>
      <p:sp>
        <p:nvSpPr>
          <p:cNvPr id="17" name="Shape 12"/>
          <p:cNvSpPr/>
          <p:nvPr/>
        </p:nvSpPr>
        <p:spPr>
          <a:xfrm flipV="1">
            <a:off x="6766560" y="4206240"/>
            <a:ext cx="914400" cy="1005840"/>
          </a:xfrm>
          <a:prstGeom prst="line">
            <a:avLst/>
          </a:prstGeom>
          <a:noFill/>
          <a:ln w="31750">
            <a:solidFill>
              <a:srgbClr val="6B7785"/>
            </a:solidFill>
            <a:prstDash val="solid"/>
            <a:tailEnd type="triangle"/>
          </a:ln>
        </p:spPr>
      </p:sp>
      <p:sp>
        <p:nvSpPr>
          <p:cNvPr id="18" name="Text 13"/>
          <p:cNvSpPr txBox="1"/>
          <p:nvPr/>
        </p:nvSpPr>
        <p:spPr>
          <a:xfrm>
            <a:off x="6812280" y="3035808"/>
            <a:ext cx="640080" cy="329184"/>
          </a:xfrm>
          <a:prstGeom prst="rect">
            <a:avLst/>
          </a:prstGeom>
          <a:solidFill>
            <a:schemeClr val="bg1"/>
          </a:solidFill>
          <a:ln/>
        </p:spPr>
        <p:txBody>
          <a:bodyPr wrap="square" lIns="0" tIns="0" rIns="0" bIns="0" rtlCol="0" anchor="ctr"/>
          <a:lstStyle/>
          <a:p>
            <a:pPr algn="ctr" indent="0" marL="0">
              <a:buNone/>
            </a:pPr>
            <a:r>
              <a:rPr lang="en-US" sz="1800" b="1" dirty="0">
                <a:solidFill>
                  <a:schemeClr val="tx1"/>
                </a:solidFill>
              </a:rPr>
              <a:t>0.15</a:t>
            </a:r>
            <a:endParaRPr lang="en-US" sz="1800" dirty="0"/>
          </a:p>
        </p:txBody>
      </p:sp>
      <p:sp>
        <p:nvSpPr>
          <p:cNvPr id="19" name="Text 14"/>
          <p:cNvSpPr txBox="1"/>
          <p:nvPr/>
        </p:nvSpPr>
        <p:spPr>
          <a:xfrm>
            <a:off x="6812280" y="4544568"/>
            <a:ext cx="640080" cy="329184"/>
          </a:xfrm>
          <a:prstGeom prst="rect">
            <a:avLst/>
          </a:prstGeom>
          <a:solidFill>
            <a:schemeClr val="bg1"/>
          </a:solidFill>
          <a:ln/>
        </p:spPr>
        <p:txBody>
          <a:bodyPr wrap="square" lIns="0" tIns="0" rIns="0" bIns="0" rtlCol="0" anchor="ctr"/>
          <a:lstStyle/>
          <a:p>
            <a:pPr algn="ctr" indent="0" marL="0">
              <a:buNone/>
            </a:pPr>
            <a:r>
              <a:rPr lang="en-US" sz="1800" b="1" dirty="0">
                <a:solidFill>
                  <a:schemeClr val="tx1"/>
                </a:solidFill>
              </a:rPr>
              <a:t>0.85</a:t>
            </a:r>
            <a:endParaRPr lang="en-US" sz="1800" dirty="0"/>
          </a:p>
        </p:txBody>
      </p:sp>
      <p:sp>
        <p:nvSpPr>
          <p:cNvPr id="20" name="Text 15"/>
          <p:cNvSpPr txBox="1"/>
          <p:nvPr/>
        </p:nvSpPr>
        <p:spPr>
          <a:xfrm>
            <a:off x="10332720" y="3429000"/>
            <a:ext cx="1280160" cy="914400"/>
          </a:xfrm>
          <a:prstGeom prst="roundRect">
            <a:avLst>
              <a:gd name="adj" fmla="val 10000"/>
            </a:avLst>
          </a:prstGeom>
          <a:solidFill>
            <a:schemeClr val="bg1"/>
          </a:solidFill>
          <a:ln w="19050">
            <a:solidFill>
              <a:srgbClr val="6B7785"/>
            </a:solidFill>
          </a:ln>
        </p:spPr>
        <p:txBody>
          <a:bodyPr wrap="square" lIns="1016" tIns="1016" rIns="1016" bIns="1016" rtlCol="0" anchor="ctr"/>
          <a:lstStyle/>
          <a:p>
            <a:pPr algn="ctr" indent="0" marL="0">
              <a:buNone/>
            </a:pPr>
            <a:r>
              <a:rPr lang="en-US" sz="1800" b="1" dirty="0">
                <a:solidFill>
                  <a:schemeClr val="tx1"/>
                </a:solidFill>
              </a:rPr>
              <a:t>Final score</a:t>
            </a:r>
            <a:endParaRPr lang="en-US" sz="1800" dirty="0"/>
          </a:p>
        </p:txBody>
      </p:sp>
      <p:sp>
        <p:nvSpPr>
          <p:cNvPr id="21" name="Shape 16"/>
          <p:cNvSpPr/>
          <p:nvPr/>
        </p:nvSpPr>
        <p:spPr>
          <a:xfrm>
            <a:off x="9784080" y="3886200"/>
            <a:ext cx="548640" cy="0"/>
          </a:xfrm>
          <a:prstGeom prst="line">
            <a:avLst/>
          </a:prstGeom>
          <a:noFill/>
          <a:ln w="31750">
            <a:solidFill>
              <a:srgbClr val="6B7785"/>
            </a:solidFill>
            <a:prstDash val="solid"/>
            <a:tailEnd type="triangle"/>
          </a:ln>
        </p:spPr>
      </p:sp>
      <p:sp>
        <p:nvSpPr>
          <p:cNvPr id="22" name="Text 17"/>
          <p:cNvSpPr txBox="1"/>
          <p:nvPr/>
        </p:nvSpPr>
        <p:spPr>
          <a:xfrm>
            <a:off x="7680960" y="1508760"/>
            <a:ext cx="3931920" cy="822960"/>
          </a:xfrm>
          <a:prstGeom prst="rect">
            <a:avLst/>
          </a:prstGeom>
          <a:noFill/>
          <a:ln/>
        </p:spPr>
        <p:txBody>
          <a:bodyPr wrap="square" lIns="0" tIns="0" rIns="0" bIns="0" rtlCol="0" anchor="ctr"/>
          <a:lstStyle/>
          <a:p>
            <a:pPr indent="0" marL="0">
              <a:buNone/>
            </a:pPr>
            <a:r>
              <a:rPr lang="en-US" sz="4800" b="1" dirty="0">
                <a:solidFill>
                  <a:schemeClr val="accent2"/>
                </a:solidFill>
              </a:rPr>
              <a:t>0.075</a:t>
            </a:r>
            <a:endParaRPr lang="en-US" sz="4800" dirty="0"/>
          </a:p>
        </p:txBody>
      </p:sp>
      <p:sp>
        <p:nvSpPr>
          <p:cNvPr id="23" name="Text 18"/>
          <p:cNvSpPr txBox="1"/>
          <p:nvPr/>
        </p:nvSpPr>
        <p:spPr>
          <a:xfrm>
            <a:off x="7680960" y="2377440"/>
            <a:ext cx="3931920" cy="365760"/>
          </a:xfrm>
          <a:prstGeom prst="rect">
            <a:avLst/>
          </a:prstGeom>
          <a:noFill/>
          <a:ln/>
        </p:spPr>
        <p:txBody>
          <a:bodyPr wrap="square" lIns="0" tIns="0" rIns="0" bIns="0" rtlCol="0" anchor="ctr"/>
          <a:lstStyle/>
          <a:p>
            <a:pPr indent="0" marL="0">
              <a:buNone/>
            </a:pPr>
            <a:r>
              <a:rPr lang="en-US" sz="1800" dirty="0">
                <a:solidFill>
                  <a:schemeClr val="tx2"/>
                </a:solidFill>
              </a:rPr>
              <a:t>effective weight of the LLM, close to the 0.07 we replicated</a:t>
            </a:r>
            <a:endParaRPr lang="en-US" sz="1800" dirty="0"/>
          </a:p>
        </p:txBody>
      </p:sp>
      <p:sp>
        <p:nvSpPr>
          <p:cNvPr id="24" name="Text 19"/>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Schematic of the submitted blend</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Part 1 recap: why an LLM could help</a:t>
            </a:r>
            <a:endParaRPr lang="en-US" sz="2800" dirty="0"/>
          </a:p>
        </p:txBody>
      </p:sp>
      <p:sp>
        <p:nvSpPr>
          <p:cNvPr id="3" name="Text 1"/>
          <p:cNvSpPr txBox="1"/>
          <p:nvPr/>
        </p:nvSpPr>
        <p:spPr>
          <a:xfrm>
            <a:off x="658368" y="160020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1</a:t>
            </a:r>
            <a:endParaRPr lang="en-US" sz="1600" dirty="0"/>
          </a:p>
        </p:txBody>
      </p:sp>
      <p:sp>
        <p:nvSpPr>
          <p:cNvPr id="4" name="Text 2"/>
          <p:cNvSpPr txBox="1"/>
          <p:nvPr/>
        </p:nvSpPr>
        <p:spPr>
          <a:xfrm>
            <a:off x="1417320" y="1481328"/>
            <a:ext cx="9829800" cy="841248"/>
          </a:xfrm>
          <a:prstGeom prst="rect">
            <a:avLst/>
          </a:prstGeom>
          <a:noFill/>
          <a:ln/>
        </p:spPr>
        <p:txBody>
          <a:bodyPr wrap="square" lIns="0" tIns="0" rIns="0" bIns="0" rtlCol="0" anchor="ctr"/>
          <a:lstStyle/>
          <a:p>
            <a:pPr indent="0" marL="0">
              <a:buNone/>
            </a:pPr>
            <a:r>
              <a:rPr lang="en-US" sz="2300" dirty="0">
                <a:solidFill>
                  <a:srgbClr val="AEB8C2"/>
                </a:solidFill>
              </a:rPr>
              <a:t>MASLD prediction starts with irregular records that end at different times.</a:t>
            </a:r>
            <a:endParaRPr lang="en-US" sz="2300" dirty="0"/>
          </a:p>
        </p:txBody>
      </p:sp>
      <p:sp>
        <p:nvSpPr>
          <p:cNvPr id="5" name="Text 3"/>
          <p:cNvSpPr txBox="1"/>
          <p:nvPr/>
        </p:nvSpPr>
        <p:spPr>
          <a:xfrm>
            <a:off x="658368" y="269748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2</a:t>
            </a:r>
            <a:endParaRPr lang="en-US" sz="1600" dirty="0"/>
          </a:p>
        </p:txBody>
      </p:sp>
      <p:sp>
        <p:nvSpPr>
          <p:cNvPr id="6" name="Text 4"/>
          <p:cNvSpPr txBox="1"/>
          <p:nvPr/>
        </p:nvSpPr>
        <p:spPr>
          <a:xfrm>
            <a:off x="1417320" y="2578608"/>
            <a:ext cx="9829800" cy="841248"/>
          </a:xfrm>
          <a:prstGeom prst="rect">
            <a:avLst/>
          </a:prstGeom>
          <a:noFill/>
          <a:ln/>
        </p:spPr>
        <p:txBody>
          <a:bodyPr wrap="square" lIns="0" tIns="0" rIns="0" bIns="0" rtlCol="0" anchor="ctr"/>
          <a:lstStyle/>
          <a:p>
            <a:pPr indent="0" marL="0">
              <a:buNone/>
            </a:pPr>
            <a:r>
              <a:rPr lang="en-US" sz="2300" dirty="0">
                <a:solidFill>
                  <a:srgbClr val="AEB8C2"/>
                </a:solidFill>
              </a:rPr>
              <a:t>When follow-up stops at an event, record length can reveal the outcome.</a:t>
            </a:r>
            <a:endParaRPr lang="en-US" sz="2300" dirty="0"/>
          </a:p>
        </p:txBody>
      </p:sp>
      <p:sp>
        <p:nvSpPr>
          <p:cNvPr id="7" name="Text 5"/>
          <p:cNvSpPr txBox="1"/>
          <p:nvPr/>
        </p:nvSpPr>
        <p:spPr>
          <a:xfrm>
            <a:off x="658368" y="379476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3</a:t>
            </a:r>
            <a:endParaRPr lang="en-US" sz="1600" dirty="0"/>
          </a:p>
        </p:txBody>
      </p:sp>
      <p:sp>
        <p:nvSpPr>
          <p:cNvPr id="8" name="Text 6"/>
          <p:cNvSpPr txBox="1"/>
          <p:nvPr/>
        </p:nvSpPr>
        <p:spPr>
          <a:xfrm>
            <a:off x="1417320" y="3675888"/>
            <a:ext cx="9829800" cy="841248"/>
          </a:xfrm>
          <a:prstGeom prst="rect">
            <a:avLst/>
          </a:prstGeom>
          <a:noFill/>
          <a:ln/>
        </p:spPr>
        <p:txBody>
          <a:bodyPr wrap="square" lIns="0" tIns="0" rIns="0" bIns="0" rtlCol="0" anchor="ctr"/>
          <a:lstStyle/>
          <a:p>
            <a:pPr indent="0" marL="0">
              <a:buNone/>
            </a:pPr>
            <a:r>
              <a:rPr lang="en-US" sz="2300" dirty="0">
                <a:solidFill>
                  <a:srgbClr val="AEB8C2"/>
                </a:solidFill>
              </a:rPr>
              <a:t>The harness removes leaked time information before any model sees it.</a:t>
            </a:r>
            <a:endParaRPr lang="en-US" sz="2300" dirty="0"/>
          </a:p>
        </p:txBody>
      </p:sp>
      <p:sp>
        <p:nvSpPr>
          <p:cNvPr id="9" name="Text 7"/>
          <p:cNvSpPr txBox="1"/>
          <p:nvPr/>
        </p:nvSpPr>
        <p:spPr>
          <a:xfrm>
            <a:off x="658368" y="489204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4</a:t>
            </a:r>
            <a:endParaRPr lang="en-US" sz="1600" dirty="0"/>
          </a:p>
        </p:txBody>
      </p:sp>
      <p:sp>
        <p:nvSpPr>
          <p:cNvPr id="10" name="Text 8"/>
          <p:cNvSpPr txBox="1"/>
          <p:nvPr/>
        </p:nvSpPr>
        <p:spPr>
          <a:xfrm>
            <a:off x="1417320" y="4773168"/>
            <a:ext cx="9829800" cy="841248"/>
          </a:xfrm>
          <a:prstGeom prst="rect">
            <a:avLst/>
          </a:prstGeom>
          <a:noFill/>
          <a:ln/>
        </p:spPr>
        <p:txBody>
          <a:bodyPr wrap="square" lIns="0" tIns="0" rIns="0" bIns="0" rtlCol="0" anchor="ctr"/>
          <a:lstStyle/>
          <a:p>
            <a:pPr indent="0" marL="0">
              <a:buNone/>
            </a:pPr>
            <a:r>
              <a:rPr lang="en-US" sz="2300" dirty="0">
                <a:solidFill>
                  <a:srgbClr val="AEB8C2"/>
                </a:solidFill>
              </a:rPr>
              <a:t>A weaker LLM can help only when its ranking errors differ.</a:t>
            </a:r>
            <a:endParaRPr lang="en-US" sz="2300" dirty="0"/>
          </a:p>
        </p:txBody>
      </p:sp>
      <p:sp>
        <p:nvSpPr>
          <p:cNvPr id="11" name="Shape 9"/>
          <p:cNvSpPr/>
          <p:nvPr/>
        </p:nvSpPr>
        <p:spPr>
          <a:xfrm>
            <a:off x="530352" y="1435608"/>
            <a:ext cx="11064240" cy="932688"/>
          </a:xfrm>
          <a:prstGeom prst="rect">
            <a:avLst/>
          </a:prstGeom>
          <a:solidFill>
            <a:srgbClr val="FFFFFF"/>
          </a:solidFill>
          <a:ln w="12700">
            <a:solidFill>
              <a:srgbClr val="FFFFFF">
                <a:alpha val="0"/>
              </a:srgbClr>
            </a:solidFill>
            <a:prstDash val="solid"/>
          </a:ln>
        </p:spPr>
      </p:sp>
      <p:sp>
        <p:nvSpPr>
          <p:cNvPr id="12" name="Text 10"/>
          <p:cNvSpPr txBox="1"/>
          <p:nvPr/>
        </p:nvSpPr>
        <p:spPr>
          <a:xfrm>
            <a:off x="658368" y="1600200"/>
            <a:ext cx="457200" cy="457200"/>
          </a:xfrm>
          <a:prstGeom prst="ellipse">
            <a:avLst/>
          </a:prstGeom>
          <a:solidFill>
            <a:srgbClr val="0072B2"/>
          </a:solidFill>
          <a:ln>
            <a:solidFill>
              <a:srgbClr val="0072B2"/>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3" name="Text 11"/>
          <p:cNvSpPr txBox="1"/>
          <p:nvPr/>
        </p:nvSpPr>
        <p:spPr>
          <a:xfrm>
            <a:off x="1417320" y="1481328"/>
            <a:ext cx="9829800" cy="841248"/>
          </a:xfrm>
          <a:prstGeom prst="rect">
            <a:avLst/>
          </a:prstGeom>
          <a:noFill/>
          <a:ln/>
        </p:spPr>
        <p:txBody>
          <a:bodyPr wrap="square" lIns="0" tIns="0" rIns="0" bIns="0" rtlCol="0" anchor="ctr"/>
          <a:lstStyle/>
          <a:p>
            <a:pPr indent="0" marL="0">
              <a:buNone/>
            </a:pPr>
            <a:r>
              <a:rPr lang="en-US" sz="2300" dirty="0">
                <a:solidFill>
                  <a:schemeClr val="tx1"/>
                </a:solidFill>
              </a:rPr>
              <a:t>MASLD prediction starts with irregular records that end at different times.</a:t>
            </a:r>
            <a:endParaRPr lang="en-US" sz="2300" dirty="0"/>
          </a:p>
        </p:txBody>
      </p:sp>
      <p:sp>
        <p:nvSpPr>
          <p:cNvPr id="14" name="Shape 12"/>
          <p:cNvSpPr/>
          <p:nvPr/>
        </p:nvSpPr>
        <p:spPr>
          <a:xfrm>
            <a:off x="530352" y="2532888"/>
            <a:ext cx="11064240" cy="932688"/>
          </a:xfrm>
          <a:prstGeom prst="rect">
            <a:avLst/>
          </a:prstGeom>
          <a:solidFill>
            <a:srgbClr val="FFFFFF"/>
          </a:solidFill>
          <a:ln w="12700">
            <a:solidFill>
              <a:srgbClr val="FFFFFF">
                <a:alpha val="0"/>
              </a:srgbClr>
            </a:solidFill>
            <a:prstDash val="solid"/>
          </a:ln>
        </p:spPr>
      </p:sp>
      <p:sp>
        <p:nvSpPr>
          <p:cNvPr id="15" name="Text 13"/>
          <p:cNvSpPr txBox="1"/>
          <p:nvPr/>
        </p:nvSpPr>
        <p:spPr>
          <a:xfrm>
            <a:off x="658368" y="2697480"/>
            <a:ext cx="457200" cy="457200"/>
          </a:xfrm>
          <a:prstGeom prst="ellipse">
            <a:avLst/>
          </a:prstGeom>
          <a:solidFill>
            <a:srgbClr val="0072B2"/>
          </a:solidFill>
          <a:ln>
            <a:solidFill>
              <a:srgbClr val="0072B2"/>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6" name="Text 14"/>
          <p:cNvSpPr txBox="1"/>
          <p:nvPr/>
        </p:nvSpPr>
        <p:spPr>
          <a:xfrm>
            <a:off x="1417320" y="2578608"/>
            <a:ext cx="9829800" cy="841248"/>
          </a:xfrm>
          <a:prstGeom prst="rect">
            <a:avLst/>
          </a:prstGeom>
          <a:noFill/>
          <a:ln/>
        </p:spPr>
        <p:txBody>
          <a:bodyPr wrap="square" lIns="0" tIns="0" rIns="0" bIns="0" rtlCol="0" anchor="ctr"/>
          <a:lstStyle/>
          <a:p>
            <a:pPr indent="0" marL="0">
              <a:buNone/>
            </a:pPr>
            <a:r>
              <a:rPr lang="en-US" sz="2300" dirty="0">
                <a:solidFill>
                  <a:schemeClr val="tx1"/>
                </a:solidFill>
              </a:rPr>
              <a:t>When follow-up stops at an event, record length can reveal the outcome.</a:t>
            </a:r>
            <a:endParaRPr lang="en-US" sz="2300" dirty="0"/>
          </a:p>
        </p:txBody>
      </p:sp>
      <p:sp>
        <p:nvSpPr>
          <p:cNvPr id="17" name="Shape 15"/>
          <p:cNvSpPr/>
          <p:nvPr/>
        </p:nvSpPr>
        <p:spPr>
          <a:xfrm>
            <a:off x="530352" y="3630168"/>
            <a:ext cx="11064240" cy="932688"/>
          </a:xfrm>
          <a:prstGeom prst="rect">
            <a:avLst/>
          </a:prstGeom>
          <a:solidFill>
            <a:srgbClr val="FFFFFF"/>
          </a:solidFill>
          <a:ln w="12700">
            <a:solidFill>
              <a:srgbClr val="FFFFFF">
                <a:alpha val="0"/>
              </a:srgbClr>
            </a:solidFill>
            <a:prstDash val="solid"/>
          </a:ln>
        </p:spPr>
      </p:sp>
      <p:sp>
        <p:nvSpPr>
          <p:cNvPr id="18" name="Text 16"/>
          <p:cNvSpPr txBox="1"/>
          <p:nvPr/>
        </p:nvSpPr>
        <p:spPr>
          <a:xfrm>
            <a:off x="658368" y="3794760"/>
            <a:ext cx="457200" cy="457200"/>
          </a:xfrm>
          <a:prstGeom prst="ellipse">
            <a:avLst/>
          </a:prstGeom>
          <a:solidFill>
            <a:srgbClr val="0072B2"/>
          </a:solidFill>
          <a:ln>
            <a:solidFill>
              <a:srgbClr val="0072B2"/>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1417320" y="3675888"/>
            <a:ext cx="9829800" cy="841248"/>
          </a:xfrm>
          <a:prstGeom prst="rect">
            <a:avLst/>
          </a:prstGeom>
          <a:noFill/>
          <a:ln/>
        </p:spPr>
        <p:txBody>
          <a:bodyPr wrap="square" lIns="0" tIns="0" rIns="0" bIns="0" rtlCol="0" anchor="ctr"/>
          <a:lstStyle/>
          <a:p>
            <a:pPr indent="0" marL="0">
              <a:buNone/>
            </a:pPr>
            <a:r>
              <a:rPr lang="en-US" sz="2300" dirty="0">
                <a:solidFill>
                  <a:schemeClr val="tx1"/>
                </a:solidFill>
              </a:rPr>
              <a:t>The harness removes leaked time information before any model sees it.</a:t>
            </a:r>
            <a:endParaRPr lang="en-US" sz="2300" dirty="0"/>
          </a:p>
        </p:txBody>
      </p:sp>
      <p:sp>
        <p:nvSpPr>
          <p:cNvPr id="20" name="Shape 18"/>
          <p:cNvSpPr/>
          <p:nvPr/>
        </p:nvSpPr>
        <p:spPr>
          <a:xfrm>
            <a:off x="530352" y="4727448"/>
            <a:ext cx="11064240" cy="932688"/>
          </a:xfrm>
          <a:prstGeom prst="rect">
            <a:avLst/>
          </a:prstGeom>
          <a:solidFill>
            <a:srgbClr val="FFFFFF"/>
          </a:solidFill>
          <a:ln w="12700">
            <a:solidFill>
              <a:srgbClr val="FFFFFF">
                <a:alpha val="0"/>
              </a:srgbClr>
            </a:solidFill>
            <a:prstDash val="solid"/>
          </a:ln>
        </p:spPr>
      </p:sp>
      <p:sp>
        <p:nvSpPr>
          <p:cNvPr id="21" name="Text 19"/>
          <p:cNvSpPr txBox="1"/>
          <p:nvPr/>
        </p:nvSpPr>
        <p:spPr>
          <a:xfrm>
            <a:off x="658368" y="4892040"/>
            <a:ext cx="457200" cy="457200"/>
          </a:xfrm>
          <a:prstGeom prst="ellipse">
            <a:avLst/>
          </a:prstGeom>
          <a:solidFill>
            <a:srgbClr val="0072B2"/>
          </a:solidFill>
          <a:ln>
            <a:solidFill>
              <a:srgbClr val="0072B2"/>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1417320" y="4773168"/>
            <a:ext cx="9829800" cy="841248"/>
          </a:xfrm>
          <a:prstGeom prst="rect">
            <a:avLst/>
          </a:prstGeom>
          <a:noFill/>
          <a:ln/>
        </p:spPr>
        <p:txBody>
          <a:bodyPr wrap="square" lIns="0" tIns="0" rIns="0" bIns="0" rtlCol="0" anchor="ctr"/>
          <a:lstStyle/>
          <a:p>
            <a:pPr indent="0" marL="0">
              <a:buNone/>
            </a:pPr>
            <a:r>
              <a:rPr lang="en-US" sz="2300" dirty="0">
                <a:solidFill>
                  <a:schemeClr val="tx1"/>
                </a:solidFill>
              </a:rPr>
              <a:t>A weaker LLM can help only when its ranking errors differ.</a:t>
            </a:r>
            <a:endParaRPr lang="en-US" sz="2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A 127-patient public leaderboard</a:t>
            </a:r>
            <a:endParaRPr lang="en-US" sz="2800" dirty="0"/>
          </a:p>
          <a:p>
            <a:pPr algn="l" indent="0" marL="0">
              <a:buNone/>
            </a:pPr>
            <a:r>
              <a:rPr lang="en-US" sz="2800" b="1" dirty="0">
                <a:solidFill>
                  <a:schemeClr val="tx1"/>
                </a:solidFill>
              </a:rPr>
              <a:t>cannot tell a gain of 0.0056 from noise</a:t>
            </a:r>
            <a:endParaRPr lang="en-US" sz="2800" dirty="0"/>
          </a:p>
        </p:txBody>
      </p:sp>
      <p:sp>
        <p:nvSpPr>
          <p:cNvPr id="3" name="Text 1"/>
          <p:cNvSpPr txBox="1"/>
          <p:nvPr/>
        </p:nvSpPr>
        <p:spPr>
          <a:xfrm>
            <a:off x="548640" y="1508760"/>
            <a:ext cx="4206240" cy="731520"/>
          </a:xfrm>
          <a:prstGeom prst="rect">
            <a:avLst/>
          </a:prstGeom>
          <a:noFill/>
          <a:ln/>
        </p:spPr>
        <p:txBody>
          <a:bodyPr wrap="square" lIns="0" tIns="0" rIns="0" bIns="0" rtlCol="0" anchor="t"/>
          <a:lstStyle/>
          <a:p>
            <a:pPr indent="0" marL="0">
              <a:buNone/>
            </a:pPr>
            <a:r>
              <a:rPr lang="en-US" sz="1800" b="1" dirty="0">
                <a:solidFill>
                  <a:schemeClr val="tx1"/>
                </a:solidFill>
              </a:rPr>
              <a:t>Public board: 127 patients</a:t>
            </a:r>
            <a:endParaRPr lang="en-US" sz="1800" dirty="0"/>
          </a:p>
          <a:p>
            <a:pPr indent="0" marL="0">
              <a:buNone/>
            </a:pPr>
            <a:r>
              <a:rPr lang="en-US" sz="1800" dirty="0">
                <a:solidFill>
                  <a:srgbClr val="D55E00"/>
                </a:solidFill>
              </a:rPr>
              <a:t>about 5 liver events, expected at the 4% rate</a:t>
            </a:r>
            <a:endParaRPr lang="en-US" sz="1800" dirty="0"/>
          </a:p>
        </p:txBody>
      </p:sp>
      <p:pic>
        <p:nvPicPr>
          <p:cNvPr id="4" name="Image 0" descr="127 patient pictograms; 5 filled ones mark the liver events expected at the measured rate">    </p:cNvPr>
          <p:cNvPicPr>
            <a:picLocks noChangeAspect="1"/>
          </p:cNvPicPr>
          <p:nvPr/>
        </p:nvPicPr>
        <p:blipFill>
          <a:blip r:embed="rId1"/>
          <a:stretch>
            <a:fillRect/>
          </a:stretch>
        </p:blipFill>
        <p:spPr>
          <a:xfrm>
            <a:off x="548640" y="2377440"/>
            <a:ext cx="4206240" cy="2418588"/>
          </a:xfrm>
          <a:prstGeom prst="rect">
            <a:avLst/>
          </a:prstGeom>
        </p:spPr>
      </p:pic>
      <p:graphicFrame>
        <p:nvGraphicFramePr>
          <p:cNvPr id="5" name="Chart 0" descr="Our gain of 0.0056 against the credible gain on the public, private and whole test samples."/>
          <p:cNvGraphicFramePr/>
          <p:nvPr/>
        </p:nvGraphicFramePr>
        <p:xfrm>
          <a:off x="5029200" y="1463040"/>
          <a:ext cx="6583680" cy="43434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Our gain was one standard error. A credible gain needed two.</a:t>
            </a:r>
            <a:endParaRPr lang="en-US" sz="1800" dirty="0"/>
          </a:p>
        </p:txBody>
      </p:sp>
      <p:sp>
        <p:nvSpPr>
          <p:cNvPr id="7" name="Text 3"/>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simulated from measured event rates; our leaderboard gain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With 272 tries on one sample, the</a:t>
            </a:r>
            <a:endParaRPr lang="en-US" sz="2800" dirty="0"/>
          </a:p>
          <a:p>
            <a:pPr algn="l" indent="0" marL="0">
              <a:buNone/>
            </a:pPr>
            <a:r>
              <a:rPr lang="en-US" sz="2800" b="1" dirty="0">
                <a:solidFill>
                  <a:schemeClr val="tx1"/>
                </a:solidFill>
              </a:rPr>
              <a:t>best result looks good by chance alone</a:t>
            </a:r>
            <a:endParaRPr lang="en-US" sz="2800" dirty="0"/>
          </a:p>
        </p:txBody>
      </p:sp>
      <p:graphicFrame>
        <p:nvGraphicFramePr>
          <p:cNvPr id="3" name="Chart 0" descr="Our gain of 0.0056 against the typical best gain by chance for 5, 30 and 272 tries."/>
          <p:cNvGraphicFramePr/>
          <p:nvPr/>
        </p:nvGraphicFramePr>
        <p:xfrm>
          <a:off x="548640" y="1463040"/>
          <a:ext cx="110642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The best of many tries looks good by construction.</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simulated; our leaderboard gain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Our gain was bigger than even fully</a:t>
            </a:r>
            <a:endParaRPr lang="en-US" sz="2800" dirty="0"/>
          </a:p>
          <a:p>
            <a:pPr algn="l" indent="0" marL="0">
              <a:buNone/>
            </a:pPr>
            <a:r>
              <a:rPr lang="en-US" sz="2800" b="1" dirty="0">
                <a:solidFill>
                  <a:schemeClr val="tx1"/>
                </a:solidFill>
              </a:rPr>
              <a:t>independent mistakes could deliver</a:t>
            </a:r>
            <a:endParaRPr lang="en-US" sz="2800" dirty="0"/>
          </a:p>
        </p:txBody>
      </p:sp>
      <p:graphicFrame>
        <p:nvGraphicFramePr>
          <p:cNvPr id="3" name="Chart 0" descr="In simulation, the best blend gain falls from 0.0064 to zero as the error correlation rises from 0.0 to 0.6."/>
          <p:cNvGraphicFramePr/>
          <p:nvPr/>
        </p:nvGraphicFramePr>
        <p:xfrm>
          <a:off x="548640" y="1463040"/>
          <a:ext cx="512064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For two blends, the observed gain is larger than the best case with independent errors at the blend's own weight."/>
          <p:cNvGraphicFramePr/>
          <p:nvPr/>
        </p:nvGraphicFramePr>
        <p:xfrm>
          <a:off x="5943600" y="1463040"/>
          <a:ext cx="5669280" cy="4343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When reality beats the best case, suspect the measurement, not the model.</a:t>
            </a:r>
            <a:endParaRPr lang="en-US" sz="1800" dirty="0"/>
          </a:p>
        </p:txBody>
      </p:sp>
      <p:sp>
        <p:nvSpPr>
          <p:cNvPr id="6"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simulation, and leaderboard gains against the model's prediction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Our own cross-validation was a false positive,</a:t>
            </a:r>
            <a:endParaRPr lang="en-US" sz="2800" dirty="0"/>
          </a:p>
          <a:p>
            <a:pPr algn="l" indent="0" marL="0">
              <a:buNone/>
            </a:pPr>
            <a:r>
              <a:rPr lang="en-US" sz="2800" b="1" dirty="0">
                <a:solidFill>
                  <a:schemeClr val="tx1"/>
                </a:solidFill>
              </a:rPr>
              <a:t>because follow-up length alone scored 0.96</a:t>
            </a:r>
            <a:endParaRPr lang="en-US" sz="2800" dirty="0"/>
          </a:p>
        </p:txBody>
      </p:sp>
      <p:graphicFrame>
        <p:nvGraphicFramePr>
          <p:cNvPr id="3" name="Chart 0" descr="Follow-up span alone scores 0.9614 and the CV as run 0.9502, above the 0.947 red flag. The window-free CV scores 0.9020 and the leaderboard 0.8938."/>
          <p:cNvGraphicFramePr/>
          <p:nvPr/>
        </p:nvGraphicFramePr>
        <p:xfrm>
          <a:off x="548640" y="1463040"/>
          <a:ext cx="110642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Drop the 26 window features and the same base falls from 0.950 to 0.902.</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cross-validation and leaderboard</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Adding GPT-OSS slightly lowers the leak-free</a:t>
            </a:r>
            <a:endParaRPr lang="en-US" sz="2800" dirty="0"/>
          </a:p>
          <a:p>
            <a:pPr algn="l" indent="0" marL="0">
              <a:buNone/>
            </a:pPr>
            <a:r>
              <a:rPr lang="en-US" sz="2800" b="1" dirty="0">
                <a:solidFill>
                  <a:schemeClr val="tx1"/>
                </a:solidFill>
              </a:rPr>
              <a:t>cross-validation score, so the gain does not replicate</a:t>
            </a:r>
            <a:endParaRPr lang="en-US" sz="2800" dirty="0"/>
          </a:p>
        </p:txBody>
      </p:sp>
      <p:graphicFrame>
        <p:nvGraphicFramePr>
          <p:cNvPr id="3" name="Chart 0" descr="Window-free CV: base 0.9020, GPT-OSS alone 0.7465, base plus GPT-OSS 0.8999."/>
          <p:cNvGraphicFramePr/>
          <p:nvPr/>
        </p:nvGraphicFramePr>
        <p:xfrm>
          <a:off x="548640" y="1463040"/>
          <a:ext cx="603504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The blend won 1 of 10 hepatic folds and 2 of 10 death folds. In a synthetic cohort with real signal it wins 9 of 10."/>
          <p:cNvGraphicFramePr/>
          <p:nvPr/>
        </p:nvGraphicFramePr>
        <p:xfrm>
          <a:off x="6858000" y="1463040"/>
          <a:ext cx="4754880" cy="4343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Weight 0.07, fixed in advance: the blend loses in most folds. A synthetic cohort with real signal wins 9.</a:t>
            </a:r>
            <a:endParaRPr lang="en-US" sz="1800" dirty="0"/>
          </a:p>
        </p:txBody>
      </p:sp>
      <p:sp>
        <p:nvSpPr>
          <p:cNvPr id="6"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window-free 10-fold CV; synthetic contrast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No model or prompt clears the noise,</a:t>
            </a:r>
            <a:endParaRPr lang="en-US" sz="2800" dirty="0"/>
          </a:p>
          <a:p>
            <a:pPr algn="l" indent="0" marL="0">
              <a:buNone/>
            </a:pPr>
            <a:r>
              <a:rPr lang="en-US" sz="2800" b="1" dirty="0">
                <a:solidFill>
                  <a:schemeClr val="tx1"/>
                </a:solidFill>
              </a:rPr>
              <a:t>and the LLMs agree with each other</a:t>
            </a:r>
            <a:endParaRPr lang="en-US" sz="2800" dirty="0"/>
          </a:p>
        </p:txBody>
      </p:sp>
      <p:sp>
        <p:nvSpPr>
          <p:cNvPr id="3" name="Shape 1"/>
          <p:cNvSpPr/>
          <p:nvPr/>
        </p:nvSpPr>
        <p:spPr>
          <a:xfrm>
            <a:off x="8850086" y="1554480"/>
            <a:ext cx="0" cy="2926080"/>
          </a:xfrm>
          <a:prstGeom prst="line">
            <a:avLst/>
          </a:prstGeom>
          <a:noFill/>
          <a:ln w="19050">
            <a:solidFill>
              <a:srgbClr val="6B7785"/>
            </a:solidFill>
            <a:prstDash val="dash"/>
          </a:ln>
        </p:spPr>
      </p:sp>
      <p:sp>
        <p:nvSpPr>
          <p:cNvPr id="4" name="Shape 2"/>
          <p:cNvSpPr/>
          <p:nvPr/>
        </p:nvSpPr>
        <p:spPr>
          <a:xfrm>
            <a:off x="4206240" y="4480560"/>
            <a:ext cx="7223760" cy="0"/>
          </a:xfrm>
          <a:prstGeom prst="line">
            <a:avLst/>
          </a:prstGeom>
          <a:noFill/>
          <a:ln w="12700">
            <a:solidFill>
              <a:srgbClr val="6B7785"/>
            </a:solidFill>
            <a:prstDash val="solid"/>
          </a:ln>
        </p:spPr>
      </p:sp>
      <p:sp>
        <p:nvSpPr>
          <p:cNvPr id="5" name="Text 3"/>
          <p:cNvSpPr txBox="1"/>
          <p:nvPr/>
        </p:nvSpPr>
        <p:spPr>
          <a:xfrm>
            <a:off x="4173583" y="4526280"/>
            <a:ext cx="1097280" cy="320040"/>
          </a:xfrm>
          <a:prstGeom prst="rect">
            <a:avLst/>
          </a:prstGeom>
          <a:noFill/>
          <a:ln/>
        </p:spPr>
        <p:txBody>
          <a:bodyPr wrap="square" lIns="0" tIns="0" rIns="0" bIns="0" rtlCol="0" anchor="ctr"/>
          <a:lstStyle/>
          <a:p>
            <a:pPr algn="ctr" indent="0" marL="0">
              <a:buNone/>
            </a:pPr>
            <a:r>
              <a:rPr lang="en-US" sz="1800" dirty="0">
                <a:solidFill>
                  <a:schemeClr val="tx2"/>
                </a:solidFill>
              </a:rPr>
              <a:t>-0.008</a:t>
            </a:r>
            <a:endParaRPr lang="en-US" sz="1800" dirty="0"/>
          </a:p>
        </p:txBody>
      </p:sp>
      <p:sp>
        <p:nvSpPr>
          <p:cNvPr id="6" name="Text 4"/>
          <p:cNvSpPr txBox="1"/>
          <p:nvPr/>
        </p:nvSpPr>
        <p:spPr>
          <a:xfrm>
            <a:off x="6237514" y="4526280"/>
            <a:ext cx="1097280" cy="320040"/>
          </a:xfrm>
          <a:prstGeom prst="rect">
            <a:avLst/>
          </a:prstGeom>
          <a:noFill/>
          <a:ln/>
        </p:spPr>
        <p:txBody>
          <a:bodyPr wrap="square" lIns="0" tIns="0" rIns="0" bIns="0" rtlCol="0" anchor="ctr"/>
          <a:lstStyle/>
          <a:p>
            <a:pPr algn="ctr" indent="0" marL="0">
              <a:buNone/>
            </a:pPr>
            <a:r>
              <a:rPr lang="en-US" sz="1800" dirty="0">
                <a:solidFill>
                  <a:schemeClr val="tx2"/>
                </a:solidFill>
              </a:rPr>
              <a:t>-0.004</a:t>
            </a:r>
            <a:endParaRPr lang="en-US" sz="1800" dirty="0"/>
          </a:p>
        </p:txBody>
      </p:sp>
      <p:sp>
        <p:nvSpPr>
          <p:cNvPr id="7" name="Text 5"/>
          <p:cNvSpPr txBox="1"/>
          <p:nvPr/>
        </p:nvSpPr>
        <p:spPr>
          <a:xfrm>
            <a:off x="8301446" y="4526280"/>
            <a:ext cx="1097280" cy="320040"/>
          </a:xfrm>
          <a:prstGeom prst="rect">
            <a:avLst/>
          </a:prstGeom>
          <a:noFill/>
          <a:ln/>
        </p:spPr>
        <p:txBody>
          <a:bodyPr wrap="square" lIns="0" tIns="0" rIns="0" bIns="0" rtlCol="0" anchor="ctr"/>
          <a:lstStyle/>
          <a:p>
            <a:pPr algn="ctr" indent="0" marL="0">
              <a:buNone/>
            </a:pPr>
            <a:r>
              <a:rPr lang="en-US" sz="1800" dirty="0">
                <a:solidFill>
                  <a:schemeClr val="tx2"/>
                </a:solidFill>
              </a:rPr>
              <a:t>0</a:t>
            </a:r>
            <a:endParaRPr lang="en-US" sz="1800" dirty="0"/>
          </a:p>
        </p:txBody>
      </p:sp>
      <p:sp>
        <p:nvSpPr>
          <p:cNvPr id="8" name="Text 6"/>
          <p:cNvSpPr txBox="1"/>
          <p:nvPr/>
        </p:nvSpPr>
        <p:spPr>
          <a:xfrm>
            <a:off x="10365377" y="4526280"/>
            <a:ext cx="1097280" cy="320040"/>
          </a:xfrm>
          <a:prstGeom prst="rect">
            <a:avLst/>
          </a:prstGeom>
          <a:noFill/>
          <a:ln/>
        </p:spPr>
        <p:txBody>
          <a:bodyPr wrap="square" lIns="0" tIns="0" rIns="0" bIns="0" rtlCol="0" anchor="ctr"/>
          <a:lstStyle/>
          <a:p>
            <a:pPr algn="ctr" indent="0" marL="0">
              <a:buNone/>
            </a:pPr>
            <a:r>
              <a:rPr lang="en-US" sz="1800" dirty="0">
                <a:solidFill>
                  <a:schemeClr val="tx2"/>
                </a:solidFill>
              </a:rPr>
              <a:t>+0.004</a:t>
            </a:r>
            <a:endParaRPr lang="en-US" sz="1800" dirty="0"/>
          </a:p>
        </p:txBody>
      </p:sp>
      <p:sp>
        <p:nvSpPr>
          <p:cNvPr id="9" name="Text 7"/>
          <p:cNvSpPr txBox="1"/>
          <p:nvPr/>
        </p:nvSpPr>
        <p:spPr>
          <a:xfrm>
            <a:off x="4206240" y="4846320"/>
            <a:ext cx="7223760" cy="320040"/>
          </a:xfrm>
          <a:prstGeom prst="rect">
            <a:avLst/>
          </a:prstGeom>
          <a:noFill/>
          <a:ln/>
        </p:spPr>
        <p:txBody>
          <a:bodyPr wrap="square" lIns="0" tIns="0" rIns="0" bIns="0" rtlCol="0" anchor="ctr"/>
          <a:lstStyle/>
          <a:p>
            <a:pPr algn="ctr" indent="0" marL="0">
              <a:buNone/>
            </a:pPr>
            <a:r>
              <a:rPr lang="en-US" sz="1800" dirty="0">
                <a:solidFill>
                  <a:schemeClr val="tx2"/>
                </a:solidFill>
              </a:rPr>
              <a:t>blend gain</a:t>
            </a:r>
            <a:endParaRPr lang="en-US" sz="1800" dirty="0"/>
          </a:p>
        </p:txBody>
      </p:sp>
      <p:sp>
        <p:nvSpPr>
          <p:cNvPr id="10" name="Text 8"/>
          <p:cNvSpPr txBox="1"/>
          <p:nvPr/>
        </p:nvSpPr>
        <p:spPr>
          <a:xfrm>
            <a:off x="548640" y="1554480"/>
            <a:ext cx="3566160" cy="731520"/>
          </a:xfrm>
          <a:prstGeom prst="rect">
            <a:avLst/>
          </a:prstGeom>
          <a:noFill/>
          <a:ln/>
        </p:spPr>
        <p:txBody>
          <a:bodyPr wrap="square" lIns="0" tIns="0" rIns="0" bIns="0" rtlCol="0" anchor="ctr"/>
          <a:lstStyle/>
          <a:p>
            <a:pPr indent="0" marL="0">
              <a:buNone/>
            </a:pPr>
            <a:r>
              <a:rPr lang="en-US" sz="2000" b="1" dirty="0">
                <a:solidFill>
                  <a:schemeClr val="tx1"/>
                </a:solidFill>
              </a:rPr>
              <a:t>GPT-OSS, split</a:t>
            </a:r>
            <a:endParaRPr lang="en-US" sz="2000" dirty="0"/>
          </a:p>
        </p:txBody>
      </p:sp>
      <p:sp>
        <p:nvSpPr>
          <p:cNvPr id="11" name="Shape 9"/>
          <p:cNvSpPr/>
          <p:nvPr/>
        </p:nvSpPr>
        <p:spPr>
          <a:xfrm>
            <a:off x="5857385" y="1920240"/>
            <a:ext cx="4127863" cy="0"/>
          </a:xfrm>
          <a:prstGeom prst="line">
            <a:avLst/>
          </a:prstGeom>
          <a:noFill/>
          <a:ln w="38100">
            <a:solidFill>
              <a:srgbClr val="0072B2"/>
            </a:solidFill>
            <a:prstDash val="solid"/>
          </a:ln>
        </p:spPr>
      </p:sp>
      <p:sp>
        <p:nvSpPr>
          <p:cNvPr id="12" name="Shape 10"/>
          <p:cNvSpPr/>
          <p:nvPr/>
        </p:nvSpPr>
        <p:spPr>
          <a:xfrm>
            <a:off x="7811589" y="1810512"/>
            <a:ext cx="219456" cy="219456"/>
          </a:xfrm>
          <a:prstGeom prst="ellipse">
            <a:avLst/>
          </a:prstGeom>
          <a:solidFill>
            <a:srgbClr val="0072B2"/>
          </a:solidFill>
          <a:ln w="12700">
            <a:solidFill>
              <a:srgbClr val="0072B2"/>
            </a:solidFill>
            <a:prstDash val="solid"/>
          </a:ln>
        </p:spPr>
      </p:sp>
      <p:sp>
        <p:nvSpPr>
          <p:cNvPr id="13" name="Text 11"/>
          <p:cNvSpPr txBox="1"/>
          <p:nvPr/>
        </p:nvSpPr>
        <p:spPr>
          <a:xfrm>
            <a:off x="548640" y="2286000"/>
            <a:ext cx="3566160" cy="731520"/>
          </a:xfrm>
          <a:prstGeom prst="rect">
            <a:avLst/>
          </a:prstGeom>
          <a:noFill/>
          <a:ln/>
        </p:spPr>
        <p:txBody>
          <a:bodyPr wrap="square" lIns="0" tIns="0" rIns="0" bIns="0" rtlCol="0" anchor="ctr"/>
          <a:lstStyle/>
          <a:p>
            <a:pPr indent="0" marL="0">
              <a:buNone/>
            </a:pPr>
            <a:r>
              <a:rPr lang="en-US" sz="2000" b="1" dirty="0">
                <a:solidFill>
                  <a:schemeClr val="tx1"/>
                </a:solidFill>
              </a:rPr>
              <a:t>Nemotron, joint, reasoning</a:t>
            </a:r>
            <a:endParaRPr lang="en-US" sz="2000" dirty="0"/>
          </a:p>
        </p:txBody>
      </p:sp>
      <p:sp>
        <p:nvSpPr>
          <p:cNvPr id="14" name="Shape 12"/>
          <p:cNvSpPr/>
          <p:nvPr/>
        </p:nvSpPr>
        <p:spPr>
          <a:xfrm>
            <a:off x="7611727" y="2651760"/>
            <a:ext cx="3508683" cy="0"/>
          </a:xfrm>
          <a:prstGeom prst="line">
            <a:avLst/>
          </a:prstGeom>
          <a:noFill/>
          <a:ln w="38100">
            <a:solidFill>
              <a:srgbClr val="D55E00"/>
            </a:solidFill>
            <a:prstDash val="solid"/>
          </a:ln>
        </p:spPr>
      </p:sp>
      <p:sp>
        <p:nvSpPr>
          <p:cNvPr id="15" name="Shape 13"/>
          <p:cNvSpPr/>
          <p:nvPr/>
        </p:nvSpPr>
        <p:spPr>
          <a:xfrm>
            <a:off x="9256341" y="2542032"/>
            <a:ext cx="219456" cy="219456"/>
          </a:xfrm>
          <a:prstGeom prst="ellipse">
            <a:avLst/>
          </a:prstGeom>
          <a:solidFill>
            <a:srgbClr val="D55E00"/>
          </a:solidFill>
          <a:ln w="12700">
            <a:solidFill>
              <a:srgbClr val="D55E00"/>
            </a:solidFill>
            <a:prstDash val="solid"/>
          </a:ln>
        </p:spPr>
      </p:sp>
      <p:sp>
        <p:nvSpPr>
          <p:cNvPr id="16" name="Text 14"/>
          <p:cNvSpPr txBox="1"/>
          <p:nvPr/>
        </p:nvSpPr>
        <p:spPr>
          <a:xfrm>
            <a:off x="11211850" y="2468880"/>
            <a:ext cx="914400" cy="365760"/>
          </a:xfrm>
          <a:prstGeom prst="rect">
            <a:avLst/>
          </a:prstGeom>
          <a:noFill/>
          <a:ln/>
        </p:spPr>
        <p:txBody>
          <a:bodyPr wrap="square" lIns="0" tIns="0" rIns="0" bIns="0" rtlCol="0" anchor="ctr"/>
          <a:lstStyle/>
          <a:p>
            <a:pPr indent="0" marL="0">
              <a:buNone/>
            </a:pPr>
            <a:r>
              <a:rPr lang="en-US" sz="1800" b="1" dirty="0">
                <a:solidFill>
                  <a:srgbClr val="D55E00"/>
                </a:solidFill>
              </a:rPr>
              <a:t>+0.0010</a:t>
            </a:r>
            <a:endParaRPr lang="en-US" sz="1800" dirty="0"/>
          </a:p>
        </p:txBody>
      </p:sp>
      <p:sp>
        <p:nvSpPr>
          <p:cNvPr id="17" name="Text 15"/>
          <p:cNvSpPr txBox="1"/>
          <p:nvPr/>
        </p:nvSpPr>
        <p:spPr>
          <a:xfrm>
            <a:off x="548640" y="3017520"/>
            <a:ext cx="3566160" cy="731520"/>
          </a:xfrm>
          <a:prstGeom prst="rect">
            <a:avLst/>
          </a:prstGeom>
          <a:noFill/>
          <a:ln/>
        </p:spPr>
        <p:txBody>
          <a:bodyPr wrap="square" lIns="0" tIns="0" rIns="0" bIns="0" rtlCol="0" anchor="ctr"/>
          <a:lstStyle/>
          <a:p>
            <a:pPr indent="0" marL="0">
              <a:buNone/>
            </a:pPr>
            <a:r>
              <a:rPr lang="en-US" sz="2000" b="1" dirty="0">
                <a:solidFill>
                  <a:schemeClr val="tx1"/>
                </a:solidFill>
              </a:rPr>
              <a:t>MedGemma, split</a:t>
            </a:r>
            <a:endParaRPr lang="en-US" sz="2000" dirty="0"/>
          </a:p>
        </p:txBody>
      </p:sp>
      <p:sp>
        <p:nvSpPr>
          <p:cNvPr id="18" name="Shape 16"/>
          <p:cNvSpPr/>
          <p:nvPr/>
        </p:nvSpPr>
        <p:spPr>
          <a:xfrm>
            <a:off x="4619026" y="3383280"/>
            <a:ext cx="4540649" cy="0"/>
          </a:xfrm>
          <a:prstGeom prst="line">
            <a:avLst/>
          </a:prstGeom>
          <a:noFill/>
          <a:ln w="38100">
            <a:solidFill>
              <a:srgbClr val="0072B2"/>
            </a:solidFill>
            <a:prstDash val="solid"/>
          </a:ln>
        </p:spPr>
      </p:sp>
      <p:sp>
        <p:nvSpPr>
          <p:cNvPr id="19" name="Shape 17"/>
          <p:cNvSpPr/>
          <p:nvPr/>
        </p:nvSpPr>
        <p:spPr>
          <a:xfrm>
            <a:off x="6779623" y="3273552"/>
            <a:ext cx="219456" cy="219456"/>
          </a:xfrm>
          <a:prstGeom prst="ellipse">
            <a:avLst/>
          </a:prstGeom>
          <a:solidFill>
            <a:srgbClr val="0072B2"/>
          </a:solidFill>
          <a:ln w="12700">
            <a:solidFill>
              <a:srgbClr val="0072B2"/>
            </a:solidFill>
            <a:prstDash val="solid"/>
          </a:ln>
        </p:spPr>
      </p:sp>
      <p:sp>
        <p:nvSpPr>
          <p:cNvPr id="20" name="Text 18"/>
          <p:cNvSpPr txBox="1"/>
          <p:nvPr/>
        </p:nvSpPr>
        <p:spPr>
          <a:xfrm>
            <a:off x="548640" y="3749040"/>
            <a:ext cx="3566160" cy="731520"/>
          </a:xfrm>
          <a:prstGeom prst="rect">
            <a:avLst/>
          </a:prstGeom>
          <a:noFill/>
          <a:ln/>
        </p:spPr>
        <p:txBody>
          <a:bodyPr wrap="square" lIns="0" tIns="0" rIns="0" bIns="0" rtlCol="0" anchor="ctr"/>
          <a:lstStyle/>
          <a:p>
            <a:pPr indent="0" marL="0">
              <a:buNone/>
            </a:pPr>
            <a:r>
              <a:rPr lang="en-US" sz="2000" b="1" dirty="0">
                <a:solidFill>
                  <a:schemeClr val="tx1"/>
                </a:solidFill>
              </a:rPr>
              <a:t>MedGemma, joint</a:t>
            </a:r>
            <a:endParaRPr lang="en-US" sz="2000" dirty="0"/>
          </a:p>
        </p:txBody>
      </p:sp>
      <p:sp>
        <p:nvSpPr>
          <p:cNvPr id="21" name="Shape 19"/>
          <p:cNvSpPr/>
          <p:nvPr/>
        </p:nvSpPr>
        <p:spPr>
          <a:xfrm>
            <a:off x="4980214" y="4114800"/>
            <a:ext cx="5159829" cy="0"/>
          </a:xfrm>
          <a:prstGeom prst="line">
            <a:avLst/>
          </a:prstGeom>
          <a:noFill/>
          <a:ln w="38100">
            <a:solidFill>
              <a:srgbClr val="0072B2"/>
            </a:solidFill>
            <a:prstDash val="solid"/>
          </a:ln>
        </p:spPr>
      </p:sp>
      <p:sp>
        <p:nvSpPr>
          <p:cNvPr id="22" name="Shape 20"/>
          <p:cNvSpPr/>
          <p:nvPr/>
        </p:nvSpPr>
        <p:spPr>
          <a:xfrm>
            <a:off x="7450401" y="4005072"/>
            <a:ext cx="219456" cy="219456"/>
          </a:xfrm>
          <a:prstGeom prst="ellipse">
            <a:avLst/>
          </a:prstGeom>
          <a:solidFill>
            <a:srgbClr val="0072B2"/>
          </a:solidFill>
          <a:ln w="12700">
            <a:solidFill>
              <a:srgbClr val="0072B2"/>
            </a:solidFill>
            <a:prstDash val="solid"/>
          </a:ln>
        </p:spPr>
      </p:sp>
      <p:sp>
        <p:nvSpPr>
          <p:cNvPr id="23" name="Text 2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The LLMs agree with each other: rank correlation about 0.8.</a:t>
            </a:r>
            <a:endParaRPr lang="en-US" sz="1800" dirty="0"/>
          </a:p>
        </p:txBody>
      </p:sp>
      <p:sp>
        <p:nvSpPr>
          <p:cNvPr id="24" name="Text 2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window-free 10-fold CV; whiskers span two standard errors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Part 2 recap: why the gain did not hold</a:t>
            </a:r>
            <a:endParaRPr lang="en-US" sz="2800" dirty="0"/>
          </a:p>
        </p:txBody>
      </p:sp>
      <p:sp>
        <p:nvSpPr>
          <p:cNvPr id="3" name="Text 1"/>
          <p:cNvSpPr txBox="1"/>
          <p:nvPr/>
        </p:nvSpPr>
        <p:spPr>
          <a:xfrm>
            <a:off x="658368" y="160020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1</a:t>
            </a:r>
            <a:endParaRPr lang="en-US" sz="1600" dirty="0"/>
          </a:p>
        </p:txBody>
      </p:sp>
      <p:sp>
        <p:nvSpPr>
          <p:cNvPr id="4" name="Text 2"/>
          <p:cNvSpPr txBox="1"/>
          <p:nvPr/>
        </p:nvSpPr>
        <p:spPr>
          <a:xfrm>
            <a:off x="1417320" y="1481328"/>
            <a:ext cx="9829800" cy="841248"/>
          </a:xfrm>
          <a:prstGeom prst="rect">
            <a:avLst/>
          </a:prstGeom>
          <a:noFill/>
          <a:ln/>
        </p:spPr>
        <p:txBody>
          <a:bodyPr wrap="square" lIns="0" tIns="0" rIns="0" bIns="0" rtlCol="0" anchor="ctr"/>
          <a:lstStyle/>
          <a:p>
            <a:pPr indent="0" marL="0">
              <a:buNone/>
            </a:pPr>
            <a:r>
              <a:rPr lang="en-US" sz="2300" dirty="0">
                <a:solidFill>
                  <a:srgbClr val="AEB8C2"/>
                </a:solidFill>
              </a:rPr>
              <a:t>The 0.0056 public gain was one standard error. With 272 scored uploads, chance mattered more.</a:t>
            </a:r>
            <a:endParaRPr lang="en-US" sz="2300" dirty="0"/>
          </a:p>
        </p:txBody>
      </p:sp>
      <p:sp>
        <p:nvSpPr>
          <p:cNvPr id="5" name="Text 3"/>
          <p:cNvSpPr txBox="1"/>
          <p:nvPr/>
        </p:nvSpPr>
        <p:spPr>
          <a:xfrm>
            <a:off x="658368" y="269748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2</a:t>
            </a:r>
            <a:endParaRPr lang="en-US" sz="1600" dirty="0"/>
          </a:p>
        </p:txBody>
      </p:sp>
      <p:sp>
        <p:nvSpPr>
          <p:cNvPr id="6" name="Text 4"/>
          <p:cNvSpPr txBox="1"/>
          <p:nvPr/>
        </p:nvSpPr>
        <p:spPr>
          <a:xfrm>
            <a:off x="1417320" y="2578608"/>
            <a:ext cx="9829800" cy="841248"/>
          </a:xfrm>
          <a:prstGeom prst="rect">
            <a:avLst/>
          </a:prstGeom>
          <a:noFill/>
          <a:ln/>
        </p:spPr>
        <p:txBody>
          <a:bodyPr wrap="square" lIns="0" tIns="0" rIns="0" bIns="0" rtlCol="0" anchor="ctr"/>
          <a:lstStyle/>
          <a:p>
            <a:pPr indent="0" marL="0">
              <a:buNone/>
            </a:pPr>
            <a:r>
              <a:rPr lang="en-US" sz="2300" dirty="0">
                <a:solidFill>
                  <a:srgbClr val="AEB8C2"/>
                </a:solidFill>
              </a:rPr>
              <a:t>The observed lift exceeded the best case predicted at the submitted weight.</a:t>
            </a:r>
            <a:endParaRPr lang="en-US" sz="2300" dirty="0"/>
          </a:p>
        </p:txBody>
      </p:sp>
      <p:sp>
        <p:nvSpPr>
          <p:cNvPr id="7" name="Text 5"/>
          <p:cNvSpPr txBox="1"/>
          <p:nvPr/>
        </p:nvSpPr>
        <p:spPr>
          <a:xfrm>
            <a:off x="658368" y="379476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3</a:t>
            </a:r>
            <a:endParaRPr lang="en-US" sz="1600" dirty="0"/>
          </a:p>
        </p:txBody>
      </p:sp>
      <p:sp>
        <p:nvSpPr>
          <p:cNvPr id="8" name="Text 6"/>
          <p:cNvSpPr txBox="1"/>
          <p:nvPr/>
        </p:nvSpPr>
        <p:spPr>
          <a:xfrm>
            <a:off x="1417320" y="3675888"/>
            <a:ext cx="9829800" cy="841248"/>
          </a:xfrm>
          <a:prstGeom prst="rect">
            <a:avLst/>
          </a:prstGeom>
          <a:noFill/>
          <a:ln/>
        </p:spPr>
        <p:txBody>
          <a:bodyPr wrap="square" lIns="0" tIns="0" rIns="0" bIns="0" rtlCol="0" anchor="ctr"/>
          <a:lstStyle/>
          <a:p>
            <a:pPr indent="0" marL="0">
              <a:buNone/>
            </a:pPr>
            <a:r>
              <a:rPr lang="en-US" sz="2300" dirty="0">
                <a:solidFill>
                  <a:srgbClr val="AEB8C2"/>
                </a:solidFill>
              </a:rPr>
              <a:t>Follow-up span alone scored 0.9614, exposing leakage in cross-validation.</a:t>
            </a:r>
            <a:endParaRPr lang="en-US" sz="2300" dirty="0"/>
          </a:p>
        </p:txBody>
      </p:sp>
      <p:sp>
        <p:nvSpPr>
          <p:cNvPr id="9" name="Text 7"/>
          <p:cNvSpPr txBox="1"/>
          <p:nvPr/>
        </p:nvSpPr>
        <p:spPr>
          <a:xfrm>
            <a:off x="658368" y="4892040"/>
            <a:ext cx="457200" cy="457200"/>
          </a:xfrm>
          <a:prstGeom prst="ellipse">
            <a:avLst/>
          </a:prstGeom>
          <a:solidFill>
            <a:srgbClr val="DDE3E9"/>
          </a:solidFill>
          <a:ln>
            <a:solidFill>
              <a:srgbClr val="DDE3E9"/>
            </a:solidFill>
          </a:ln>
        </p:spPr>
        <p:txBody>
          <a:bodyPr wrap="square" lIns="0" tIns="0" rIns="0" bIns="0" rtlCol="0" anchor="ctr"/>
          <a:lstStyle/>
          <a:p>
            <a:pPr algn="ctr" indent="0" marL="0">
              <a:buNone/>
            </a:pPr>
            <a:r>
              <a:rPr lang="en-US" sz="1600" b="1" dirty="0">
                <a:solidFill>
                  <a:srgbClr val="6B7785"/>
                </a:solidFill>
              </a:rPr>
              <a:t>4</a:t>
            </a:r>
            <a:endParaRPr lang="en-US" sz="1600" dirty="0"/>
          </a:p>
        </p:txBody>
      </p:sp>
      <p:sp>
        <p:nvSpPr>
          <p:cNvPr id="10" name="Text 8"/>
          <p:cNvSpPr txBox="1"/>
          <p:nvPr/>
        </p:nvSpPr>
        <p:spPr>
          <a:xfrm>
            <a:off x="1417320" y="4773168"/>
            <a:ext cx="9829800" cy="841248"/>
          </a:xfrm>
          <a:prstGeom prst="rect">
            <a:avLst/>
          </a:prstGeom>
          <a:noFill/>
          <a:ln/>
        </p:spPr>
        <p:txBody>
          <a:bodyPr wrap="square" lIns="0" tIns="0" rIns="0" bIns="0" rtlCol="0" anchor="ctr"/>
          <a:lstStyle/>
          <a:p>
            <a:pPr indent="0" marL="0">
              <a:buNone/>
            </a:pPr>
            <a:r>
              <a:rPr lang="en-US" sz="2300" dirty="0">
                <a:solidFill>
                  <a:srgbClr val="AEB8C2"/>
                </a:solidFill>
              </a:rPr>
              <a:t>Leak-free CV favored the base: 0.9020 versus 0.8999 for the blend.</a:t>
            </a:r>
            <a:endParaRPr lang="en-US" sz="2300" dirty="0"/>
          </a:p>
        </p:txBody>
      </p:sp>
      <p:sp>
        <p:nvSpPr>
          <p:cNvPr id="11" name="Shape 9"/>
          <p:cNvSpPr/>
          <p:nvPr/>
        </p:nvSpPr>
        <p:spPr>
          <a:xfrm>
            <a:off x="530352" y="1435608"/>
            <a:ext cx="11064240" cy="932688"/>
          </a:xfrm>
          <a:prstGeom prst="rect">
            <a:avLst/>
          </a:prstGeom>
          <a:solidFill>
            <a:srgbClr val="FFFFFF"/>
          </a:solidFill>
          <a:ln w="12700">
            <a:solidFill>
              <a:srgbClr val="FFFFFF">
                <a:alpha val="0"/>
              </a:srgbClr>
            </a:solidFill>
            <a:prstDash val="solid"/>
          </a:ln>
        </p:spPr>
      </p:sp>
      <p:sp>
        <p:nvSpPr>
          <p:cNvPr id="12" name="Text 10"/>
          <p:cNvSpPr txBox="1"/>
          <p:nvPr/>
        </p:nvSpPr>
        <p:spPr>
          <a:xfrm>
            <a:off x="658368" y="1600200"/>
            <a:ext cx="457200" cy="457200"/>
          </a:xfrm>
          <a:prstGeom prst="ellipse">
            <a:avLst/>
          </a:prstGeom>
          <a:solidFill>
            <a:srgbClr val="D55E00"/>
          </a:solidFill>
          <a:ln>
            <a:solidFill>
              <a:srgbClr val="D55E00"/>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3" name="Text 11"/>
          <p:cNvSpPr txBox="1"/>
          <p:nvPr/>
        </p:nvSpPr>
        <p:spPr>
          <a:xfrm>
            <a:off x="1417320" y="1481328"/>
            <a:ext cx="9829800" cy="841248"/>
          </a:xfrm>
          <a:prstGeom prst="rect">
            <a:avLst/>
          </a:prstGeom>
          <a:noFill/>
          <a:ln/>
        </p:spPr>
        <p:txBody>
          <a:bodyPr wrap="square" lIns="0" tIns="0" rIns="0" bIns="0" rtlCol="0" anchor="ctr"/>
          <a:lstStyle/>
          <a:p>
            <a:pPr indent="0" marL="0">
              <a:buNone/>
            </a:pPr>
            <a:r>
              <a:rPr lang="en-US" sz="2300" dirty="0">
                <a:solidFill>
                  <a:schemeClr val="tx1"/>
                </a:solidFill>
              </a:rPr>
              <a:t>The 0.0056 public gain was one standard error. With 272 scored uploads, chance mattered more.</a:t>
            </a:r>
            <a:endParaRPr lang="en-US" sz="2300" dirty="0"/>
          </a:p>
        </p:txBody>
      </p:sp>
      <p:sp>
        <p:nvSpPr>
          <p:cNvPr id="14" name="Shape 12"/>
          <p:cNvSpPr/>
          <p:nvPr/>
        </p:nvSpPr>
        <p:spPr>
          <a:xfrm>
            <a:off x="530352" y="2532888"/>
            <a:ext cx="11064240" cy="932688"/>
          </a:xfrm>
          <a:prstGeom prst="rect">
            <a:avLst/>
          </a:prstGeom>
          <a:solidFill>
            <a:srgbClr val="FFFFFF"/>
          </a:solidFill>
          <a:ln w="12700">
            <a:solidFill>
              <a:srgbClr val="FFFFFF">
                <a:alpha val="0"/>
              </a:srgbClr>
            </a:solidFill>
            <a:prstDash val="solid"/>
          </a:ln>
        </p:spPr>
      </p:sp>
      <p:sp>
        <p:nvSpPr>
          <p:cNvPr id="15" name="Text 13"/>
          <p:cNvSpPr txBox="1"/>
          <p:nvPr/>
        </p:nvSpPr>
        <p:spPr>
          <a:xfrm>
            <a:off x="658368" y="2697480"/>
            <a:ext cx="457200" cy="457200"/>
          </a:xfrm>
          <a:prstGeom prst="ellipse">
            <a:avLst/>
          </a:prstGeom>
          <a:solidFill>
            <a:srgbClr val="D55E00"/>
          </a:solidFill>
          <a:ln>
            <a:solidFill>
              <a:srgbClr val="D55E00"/>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6" name="Text 14"/>
          <p:cNvSpPr txBox="1"/>
          <p:nvPr/>
        </p:nvSpPr>
        <p:spPr>
          <a:xfrm>
            <a:off x="1417320" y="2578608"/>
            <a:ext cx="9829800" cy="841248"/>
          </a:xfrm>
          <a:prstGeom prst="rect">
            <a:avLst/>
          </a:prstGeom>
          <a:noFill/>
          <a:ln/>
        </p:spPr>
        <p:txBody>
          <a:bodyPr wrap="square" lIns="0" tIns="0" rIns="0" bIns="0" rtlCol="0" anchor="ctr"/>
          <a:lstStyle/>
          <a:p>
            <a:pPr indent="0" marL="0">
              <a:buNone/>
            </a:pPr>
            <a:r>
              <a:rPr lang="en-US" sz="2300" dirty="0">
                <a:solidFill>
                  <a:schemeClr val="tx1"/>
                </a:solidFill>
              </a:rPr>
              <a:t>The observed lift exceeded the best case predicted at the submitted weight.</a:t>
            </a:r>
            <a:endParaRPr lang="en-US" sz="2300" dirty="0"/>
          </a:p>
        </p:txBody>
      </p:sp>
      <p:sp>
        <p:nvSpPr>
          <p:cNvPr id="17" name="Shape 15"/>
          <p:cNvSpPr/>
          <p:nvPr/>
        </p:nvSpPr>
        <p:spPr>
          <a:xfrm>
            <a:off x="530352" y="3630168"/>
            <a:ext cx="11064240" cy="932688"/>
          </a:xfrm>
          <a:prstGeom prst="rect">
            <a:avLst/>
          </a:prstGeom>
          <a:solidFill>
            <a:srgbClr val="FFFFFF"/>
          </a:solidFill>
          <a:ln w="12700">
            <a:solidFill>
              <a:srgbClr val="FFFFFF">
                <a:alpha val="0"/>
              </a:srgbClr>
            </a:solidFill>
            <a:prstDash val="solid"/>
          </a:ln>
        </p:spPr>
      </p:sp>
      <p:sp>
        <p:nvSpPr>
          <p:cNvPr id="18" name="Text 16"/>
          <p:cNvSpPr txBox="1"/>
          <p:nvPr/>
        </p:nvSpPr>
        <p:spPr>
          <a:xfrm>
            <a:off x="658368" y="3794760"/>
            <a:ext cx="457200" cy="457200"/>
          </a:xfrm>
          <a:prstGeom prst="ellipse">
            <a:avLst/>
          </a:prstGeom>
          <a:solidFill>
            <a:srgbClr val="D55E00"/>
          </a:solidFill>
          <a:ln>
            <a:solidFill>
              <a:srgbClr val="D55E00"/>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1417320" y="3675888"/>
            <a:ext cx="9829800" cy="841248"/>
          </a:xfrm>
          <a:prstGeom prst="rect">
            <a:avLst/>
          </a:prstGeom>
          <a:noFill/>
          <a:ln/>
        </p:spPr>
        <p:txBody>
          <a:bodyPr wrap="square" lIns="0" tIns="0" rIns="0" bIns="0" rtlCol="0" anchor="ctr"/>
          <a:lstStyle/>
          <a:p>
            <a:pPr indent="0" marL="0">
              <a:buNone/>
            </a:pPr>
            <a:r>
              <a:rPr lang="en-US" sz="2300" dirty="0">
                <a:solidFill>
                  <a:schemeClr val="tx1"/>
                </a:solidFill>
              </a:rPr>
              <a:t>Follow-up span alone scored 0.9614, exposing leakage in cross-validation.</a:t>
            </a:r>
            <a:endParaRPr lang="en-US" sz="2300" dirty="0"/>
          </a:p>
        </p:txBody>
      </p:sp>
      <p:sp>
        <p:nvSpPr>
          <p:cNvPr id="20" name="Shape 18"/>
          <p:cNvSpPr/>
          <p:nvPr/>
        </p:nvSpPr>
        <p:spPr>
          <a:xfrm>
            <a:off x="530352" y="4727448"/>
            <a:ext cx="11064240" cy="932688"/>
          </a:xfrm>
          <a:prstGeom prst="rect">
            <a:avLst/>
          </a:prstGeom>
          <a:solidFill>
            <a:srgbClr val="FFFFFF"/>
          </a:solidFill>
          <a:ln w="12700">
            <a:solidFill>
              <a:srgbClr val="FFFFFF">
                <a:alpha val="0"/>
              </a:srgbClr>
            </a:solidFill>
            <a:prstDash val="solid"/>
          </a:ln>
        </p:spPr>
      </p:sp>
      <p:sp>
        <p:nvSpPr>
          <p:cNvPr id="21" name="Text 19"/>
          <p:cNvSpPr txBox="1"/>
          <p:nvPr/>
        </p:nvSpPr>
        <p:spPr>
          <a:xfrm>
            <a:off x="658368" y="4892040"/>
            <a:ext cx="457200" cy="457200"/>
          </a:xfrm>
          <a:prstGeom prst="ellipse">
            <a:avLst/>
          </a:prstGeom>
          <a:solidFill>
            <a:srgbClr val="D55E00"/>
          </a:solidFill>
          <a:ln>
            <a:solidFill>
              <a:srgbClr val="D55E00"/>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1417320" y="4773168"/>
            <a:ext cx="9829800" cy="841248"/>
          </a:xfrm>
          <a:prstGeom prst="rect">
            <a:avLst/>
          </a:prstGeom>
          <a:noFill/>
          <a:ln/>
        </p:spPr>
        <p:txBody>
          <a:bodyPr wrap="square" lIns="0" tIns="0" rIns="0" bIns="0" rtlCol="0" anchor="ctr"/>
          <a:lstStyle/>
          <a:p>
            <a:pPr indent="0" marL="0">
              <a:buNone/>
            </a:pPr>
            <a:r>
              <a:rPr lang="en-US" sz="2300" dirty="0">
                <a:solidFill>
                  <a:schemeClr val="tx1"/>
                </a:solidFill>
              </a:rPr>
              <a:t>Leak-free CV favored the base: 0.9020 versus 0.8999 for the blend.</a:t>
            </a:r>
            <a:endParaRPr lang="en-US" sz="2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The limits mean we report rankings, not</a:t>
            </a:r>
            <a:endParaRPr lang="en-US" sz="2800" dirty="0"/>
          </a:p>
          <a:p>
            <a:pPr algn="l" indent="0" marL="0">
              <a:buNone/>
            </a:pPr>
            <a:r>
              <a:rPr lang="en-US" sz="2800" b="1" dirty="0">
                <a:solidFill>
                  <a:schemeClr val="tx1"/>
                </a:solidFill>
              </a:rPr>
              <a:t>risks, and quote the leak-free 0.902</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2103120"/>
                <a:gridCol w="3291840"/>
              </a:tblGrid>
              <a:tr h="1051560">
                <a:tc>
                  <a:txBody>
                    <a:bodyPr/>
                    <a:lstStyle/>
                    <a:p>
                      <a:pPr indent="0" marL="0">
                        <a:buNone/>
                      </a:pPr>
                      <a:r>
                        <a:rPr lang="en-US" sz="2000" b="1" dirty="0">
                          <a:solidFill>
                            <a:srgbClr val="1F2933"/>
                          </a:solidFill>
                        </a:rPr>
                        <a:t>Limit</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c>
                  <a:txBody>
                    <a:bodyPr/>
                    <a:lstStyle/>
                    <a:p>
                      <a:pPr indent="0" marL="0">
                        <a:buNone/>
                      </a:pPr>
                      <a:r>
                        <a:rPr lang="en-US" sz="2000" b="1" dirty="0">
                          <a:solidFill>
                            <a:srgbClr val="1F2933"/>
                          </a:solidFill>
                        </a:rPr>
                        <a:t>What it means</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r>
              <a:tr h="1051560">
                <a:tc>
                  <a:txBody>
                    <a:bodyPr/>
                    <a:lstStyle/>
                    <a:p>
                      <a:pPr indent="0" marL="0">
                        <a:buNone/>
                      </a:pPr>
                      <a:r>
                        <a:rPr lang="en-US" sz="2000" dirty="0">
                          <a:solidFill>
                            <a:srgbClr val="1F2933"/>
                          </a:solidFill>
                        </a:rPr>
                        <a:t>Rankings, not risks</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2000" dirty="0">
                          <a:solidFill>
                            <a:srgbClr val="1F2933"/>
                          </a:solidFill>
                        </a:rPr>
                        <a:t>The scores rank patients. They are not risks.</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r h="1051560">
                <a:tc>
                  <a:txBody>
                    <a:bodyPr/>
                    <a:lstStyle/>
                    <a:p>
                      <a:pPr indent="0" marL="0">
                        <a:buNone/>
                      </a:pPr>
                      <a:r>
                        <a:rPr lang="en-US" sz="2000" dirty="0">
                          <a:solidFill>
                            <a:srgbClr val="1F2933"/>
                          </a:solidFill>
                        </a:rPr>
                        <a:t>Cost and drift</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2000" dirty="0">
                          <a:solidFill>
                            <a:srgbClr val="1F2933"/>
                          </a:solidFill>
                        </a:rPr>
                        <a:t>Two calls per patient. Store raw scores and the model tag.</a:t>
                      </a:r>
                      <a:endParaRPr lang="en-US" sz="20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bl>
          </a:graphicData>
        </a:graphic>
      </p:graphicFrame>
      <p:graphicFrame>
        <p:nvGraphicFramePr>
          <p:cNvPr id="4" name="Chart 0" descr="CV as run scores 0.950 because it reads follow-up length; the leak-free CV scores 0.902, close to the leaderboard's 0.894."/>
          <p:cNvGraphicFramePr/>
          <p:nvPr/>
        </p:nvGraphicFramePr>
        <p:xfrm>
          <a:off x="6309360" y="1463040"/>
          <a:ext cx="530352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Quote the leak-free 0.902, not the leaky 0.950.</a:t>
            </a:r>
            <a:endParaRPr lang="en-US" sz="1800" dirty="0"/>
          </a:p>
        </p:txBody>
      </p:sp>
      <p:sp>
        <p:nvSpPr>
          <p:cNvPr id="6"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cross-validation and leaderboard</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Cheap habits, not big budgets, make</a:t>
            </a:r>
            <a:endParaRPr lang="en-US" sz="2800" dirty="0"/>
          </a:p>
          <a:p>
            <a:pPr algn="l" indent="0" marL="0">
              <a:buNone/>
            </a:pPr>
            <a:r>
              <a:rPr lang="en-US" sz="2800" b="1" dirty="0">
                <a:solidFill>
                  <a:schemeClr val="tx1"/>
                </a:solidFill>
              </a:rPr>
              <a:t>clinical AI results trustworthy</a:t>
            </a:r>
            <a:endParaRPr lang="en-US" sz="2800" dirty="0"/>
          </a:p>
        </p:txBody>
      </p:sp>
      <p:sp>
        <p:nvSpPr>
          <p:cNvPr id="3" name="Text 1"/>
          <p:cNvSpPr txBox="1"/>
          <p:nvPr/>
        </p:nvSpPr>
        <p:spPr>
          <a:xfrm>
            <a:off x="548640" y="1572768"/>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188720" y="1508760"/>
            <a:ext cx="2834640" cy="621792"/>
          </a:xfrm>
          <a:prstGeom prst="rect">
            <a:avLst/>
          </a:prstGeom>
          <a:noFill/>
          <a:ln/>
        </p:spPr>
        <p:txBody>
          <a:bodyPr wrap="square" lIns="0" tIns="0" rIns="0" bIns="0" rtlCol="0" anchor="ctr"/>
          <a:lstStyle/>
          <a:p>
            <a:pPr indent="0" marL="0">
              <a:buNone/>
            </a:pPr>
            <a:r>
              <a:rPr lang="en-US" sz="2600" b="1" dirty="0">
                <a:solidFill>
                  <a:schemeClr val="tx1"/>
                </a:solidFill>
              </a:rPr>
              <a:t>Start local</a:t>
            </a:r>
            <a:endParaRPr lang="en-US" sz="2600" dirty="0"/>
          </a:p>
        </p:txBody>
      </p:sp>
      <p:sp>
        <p:nvSpPr>
          <p:cNvPr id="5" name="Text 3"/>
          <p:cNvSpPr txBox="1"/>
          <p:nvPr/>
        </p:nvSpPr>
        <p:spPr>
          <a:xfrm>
            <a:off x="548640" y="5029200"/>
            <a:ext cx="3474720" cy="731520"/>
          </a:xfrm>
          <a:prstGeom prst="rect">
            <a:avLst/>
          </a:prstGeom>
          <a:noFill/>
          <a:ln/>
        </p:spPr>
        <p:txBody>
          <a:bodyPr wrap="square" lIns="0" tIns="0" rIns="0" bIns="0" rtlCol="0" anchor="t"/>
          <a:lstStyle/>
          <a:p>
            <a:pPr indent="0" marL="0">
              <a:buNone/>
            </a:pPr>
            <a:r>
              <a:rPr lang="en-US" sz="1800" dirty="0">
                <a:solidFill>
                  <a:schemeClr val="tx2"/>
                </a:solidFill>
              </a:rPr>
              <a:t>1,253 patients, on a laptop</a:t>
            </a:r>
            <a:endParaRPr lang="en-US" sz="1800" dirty="0"/>
          </a:p>
        </p:txBody>
      </p:sp>
      <p:sp>
        <p:nvSpPr>
          <p:cNvPr id="6" name="Text 4"/>
          <p:cNvSpPr txBox="1"/>
          <p:nvPr/>
        </p:nvSpPr>
        <p:spPr>
          <a:xfrm>
            <a:off x="4343400" y="1572768"/>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5"/>
          <p:cNvSpPr txBox="1"/>
          <p:nvPr/>
        </p:nvSpPr>
        <p:spPr>
          <a:xfrm>
            <a:off x="4983480" y="1508760"/>
            <a:ext cx="2834640" cy="621792"/>
          </a:xfrm>
          <a:prstGeom prst="rect">
            <a:avLst/>
          </a:prstGeom>
          <a:noFill/>
          <a:ln/>
        </p:spPr>
        <p:txBody>
          <a:bodyPr wrap="square" lIns="0" tIns="0" rIns="0" bIns="0" rtlCol="0" anchor="ctr"/>
          <a:lstStyle/>
          <a:p>
            <a:pPr indent="0" marL="0">
              <a:buNone/>
            </a:pPr>
            <a:r>
              <a:rPr lang="en-US" sz="2600" b="1" dirty="0">
                <a:solidFill>
                  <a:schemeClr val="tx1"/>
                </a:solidFill>
              </a:rPr>
              <a:t>Test cheaply</a:t>
            </a:r>
            <a:endParaRPr lang="en-US" sz="2600" dirty="0"/>
          </a:p>
        </p:txBody>
      </p:sp>
      <p:sp>
        <p:nvSpPr>
          <p:cNvPr id="8" name="Text 6"/>
          <p:cNvSpPr txBox="1"/>
          <p:nvPr/>
        </p:nvSpPr>
        <p:spPr>
          <a:xfrm>
            <a:off x="4343400" y="5029200"/>
            <a:ext cx="3474720" cy="731520"/>
          </a:xfrm>
          <a:prstGeom prst="rect">
            <a:avLst/>
          </a:prstGeom>
          <a:noFill/>
          <a:ln/>
        </p:spPr>
        <p:txBody>
          <a:bodyPr wrap="square" lIns="0" tIns="0" rIns="0" bIns="0" rtlCol="0" anchor="t"/>
          <a:lstStyle/>
          <a:p>
            <a:pPr indent="0" marL="0">
              <a:buNone/>
            </a:pPr>
            <a:r>
              <a:rPr lang="en-US" sz="1800" dirty="0">
                <a:solidFill>
                  <a:schemeClr val="tx2"/>
                </a:solidFill>
              </a:rPr>
              <a:t>Three patients first</a:t>
            </a:r>
            <a:endParaRPr lang="en-US" sz="1800" dirty="0"/>
          </a:p>
        </p:txBody>
      </p:sp>
      <p:sp>
        <p:nvSpPr>
          <p:cNvPr id="9" name="Text 7"/>
          <p:cNvSpPr txBox="1"/>
          <p:nvPr/>
        </p:nvSpPr>
        <p:spPr>
          <a:xfrm>
            <a:off x="8138160" y="1572768"/>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0" name="Text 8"/>
          <p:cNvSpPr txBox="1"/>
          <p:nvPr/>
        </p:nvSpPr>
        <p:spPr>
          <a:xfrm>
            <a:off x="8778240" y="1508760"/>
            <a:ext cx="2834640" cy="621792"/>
          </a:xfrm>
          <a:prstGeom prst="rect">
            <a:avLst/>
          </a:prstGeom>
          <a:noFill/>
          <a:ln/>
        </p:spPr>
        <p:txBody>
          <a:bodyPr wrap="square" lIns="0" tIns="0" rIns="0" bIns="0" rtlCol="0" anchor="ctr"/>
          <a:lstStyle/>
          <a:p>
            <a:pPr indent="0" marL="0">
              <a:buNone/>
            </a:pPr>
            <a:r>
              <a:rPr lang="en-US" sz="2600" b="1" dirty="0">
                <a:solidFill>
                  <a:schemeClr val="tx1"/>
                </a:solidFill>
              </a:rPr>
              <a:t>Hunt for leaks</a:t>
            </a:r>
            <a:endParaRPr lang="en-US" sz="2600" dirty="0"/>
          </a:p>
        </p:txBody>
      </p:sp>
      <p:sp>
        <p:nvSpPr>
          <p:cNvPr id="11" name="Text 9"/>
          <p:cNvSpPr txBox="1"/>
          <p:nvPr/>
        </p:nvSpPr>
        <p:spPr>
          <a:xfrm>
            <a:off x="8138160" y="5029200"/>
            <a:ext cx="3474720" cy="731520"/>
          </a:xfrm>
          <a:prstGeom prst="rect">
            <a:avLst/>
          </a:prstGeom>
          <a:noFill/>
          <a:ln/>
        </p:spPr>
        <p:txBody>
          <a:bodyPr wrap="square" lIns="0" tIns="0" rIns="0" bIns="0" rtlCol="0" anchor="t"/>
          <a:lstStyle/>
          <a:p>
            <a:pPr indent="0" marL="0">
              <a:buNone/>
            </a:pPr>
            <a:r>
              <a:rPr lang="en-US" sz="1800" dirty="0">
                <a:solidFill>
                  <a:schemeClr val="tx2"/>
                </a:solidFill>
              </a:rPr>
              <a:t>Span alone beat the whole model</a:t>
            </a:r>
            <a:endParaRPr lang="en-US" sz="1800" dirty="0"/>
          </a:p>
        </p:txBody>
      </p:sp>
      <p:sp>
        <p:nvSpPr>
          <p:cNvPr id="12" name="Text 10"/>
          <p:cNvSpPr txBox="1"/>
          <p:nvPr/>
        </p:nvSpPr>
        <p:spPr>
          <a:xfrm>
            <a:off x="548640" y="2697480"/>
            <a:ext cx="3474720" cy="1463040"/>
          </a:xfrm>
          <a:prstGeom prst="rect">
            <a:avLst/>
          </a:prstGeom>
          <a:noFill/>
          <a:ln/>
        </p:spPr>
        <p:txBody>
          <a:bodyPr wrap="square" lIns="0" tIns="0" rIns="0" bIns="0" rtlCol="0" anchor="ctr"/>
          <a:lstStyle/>
          <a:p>
            <a:pPr indent="0" marL="0">
              <a:buNone/>
            </a:pPr>
            <a:r>
              <a:rPr lang="en-US" sz="8800" b="1" dirty="0">
                <a:solidFill>
                  <a:schemeClr val="tx1"/>
                </a:solidFill>
              </a:rPr>
              <a:t>35</a:t>
            </a:r>
            <a:pPr indent="0" marL="0">
              <a:buNone/>
            </a:pPr>
            <a:r>
              <a:rPr lang="en-US" sz="3600" b="1" dirty="0">
                <a:solidFill>
                  <a:schemeClr val="tx1"/>
                </a:solidFill>
              </a:rPr>
              <a:t> min</a:t>
            </a:r>
            <a:endParaRPr lang="en-US" sz="8800" dirty="0"/>
          </a:p>
        </p:txBody>
      </p:sp>
      <p:graphicFrame>
        <p:nvGraphicFramePr>
          <p:cNvPr id="13" name="Chart 0" descr="Best blend gain falls to zero as the rank correlation with the base rises."/>
          <p:cNvGraphicFramePr/>
          <p:nvPr/>
        </p:nvGraphicFramePr>
        <p:xfrm>
          <a:off x="4343400" y="2240280"/>
          <a:ext cx="347472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Follow-up span alone 0.961 beats the whole model's leaky CV 0.950; the leak-free CV is 0.902."/>
          <p:cNvGraphicFramePr/>
          <p:nvPr/>
        </p:nvGraphicFramePr>
        <p:xfrm>
          <a:off x="8138160" y="2240280"/>
          <a:ext cx="3474720" cy="265176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run time; synthetic rankers; measured CV</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You can audit your own model with</a:t>
            </a:r>
            <a:endParaRPr lang="en-US" sz="2800" dirty="0"/>
          </a:p>
          <a:p>
            <a:pPr algn="l" indent="0" marL="0">
              <a:buNone/>
            </a:pPr>
            <a:r>
              <a:rPr lang="en-US" sz="2800" b="1" dirty="0">
                <a:solidFill>
                  <a:schemeClr val="tx1"/>
                </a:solidFill>
              </a:rPr>
              <a:t>one checklist, starting this week</a:t>
            </a:r>
            <a:endParaRPr lang="en-US" sz="2800" dirty="0"/>
          </a:p>
        </p:txBody>
      </p:sp>
      <p:sp>
        <p:nvSpPr>
          <p:cNvPr id="3" name="Text 1"/>
          <p:cNvSpPr txBox="1"/>
          <p:nvPr/>
        </p:nvSpPr>
        <p:spPr>
          <a:xfrm>
            <a:off x="548640" y="1517904"/>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143000" y="1463040"/>
            <a:ext cx="3108960" cy="603504"/>
          </a:xfrm>
          <a:prstGeom prst="rect">
            <a:avLst/>
          </a:prstGeom>
          <a:noFill/>
          <a:ln/>
        </p:spPr>
        <p:txBody>
          <a:bodyPr wrap="square" lIns="0" tIns="0" rIns="0" bIns="0" rtlCol="0" anchor="ctr"/>
          <a:lstStyle/>
          <a:p>
            <a:pPr indent="0" marL="0">
              <a:buNone/>
            </a:pPr>
            <a:r>
              <a:rPr lang="en-US" sz="2200" b="1" dirty="0">
                <a:solidFill>
                  <a:schemeClr val="tx1"/>
                </a:solidFill>
              </a:rPr>
              <a:t>Bigger than the noise?</a:t>
            </a:r>
            <a:endParaRPr lang="en-US" sz="2200" dirty="0"/>
          </a:p>
        </p:txBody>
      </p:sp>
      <p:sp>
        <p:nvSpPr>
          <p:cNvPr id="5" name="Text 3"/>
          <p:cNvSpPr txBox="1"/>
          <p:nvPr/>
        </p:nvSpPr>
        <p:spPr>
          <a:xfrm>
            <a:off x="4343400" y="1517904"/>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6" name="Text 4"/>
          <p:cNvSpPr txBox="1"/>
          <p:nvPr/>
        </p:nvSpPr>
        <p:spPr>
          <a:xfrm>
            <a:off x="4937760" y="1463040"/>
            <a:ext cx="3108960" cy="603504"/>
          </a:xfrm>
          <a:prstGeom prst="rect">
            <a:avLst/>
          </a:prstGeom>
          <a:noFill/>
          <a:ln/>
        </p:spPr>
        <p:txBody>
          <a:bodyPr wrap="square" lIns="0" tIns="0" rIns="0" bIns="0" rtlCol="0" anchor="ctr"/>
          <a:lstStyle/>
          <a:p>
            <a:pPr indent="0" marL="0">
              <a:buNone/>
            </a:pPr>
            <a:r>
              <a:rPr lang="en-US" sz="2200" b="1" dirty="0">
                <a:solidFill>
                  <a:schemeClr val="tx1"/>
                </a:solidFill>
              </a:rPr>
              <a:t>Too good to be true?</a:t>
            </a:r>
            <a:endParaRPr lang="en-US" sz="2200" dirty="0"/>
          </a:p>
        </p:txBody>
      </p:sp>
      <p:sp>
        <p:nvSpPr>
          <p:cNvPr id="7" name="Text 5"/>
          <p:cNvSpPr txBox="1"/>
          <p:nvPr/>
        </p:nvSpPr>
        <p:spPr>
          <a:xfrm>
            <a:off x="8138160" y="1517904"/>
            <a:ext cx="493776" cy="49377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8" name="Text 6"/>
          <p:cNvSpPr txBox="1"/>
          <p:nvPr/>
        </p:nvSpPr>
        <p:spPr>
          <a:xfrm>
            <a:off x="8732520" y="1463040"/>
            <a:ext cx="3108960" cy="603504"/>
          </a:xfrm>
          <a:prstGeom prst="rect">
            <a:avLst/>
          </a:prstGeom>
          <a:noFill/>
          <a:ln/>
        </p:spPr>
        <p:txBody>
          <a:bodyPr wrap="square" lIns="0" tIns="0" rIns="0" bIns="0" rtlCol="0" anchor="ctr"/>
          <a:lstStyle/>
          <a:p>
            <a:pPr indent="0" marL="0">
              <a:buNone/>
            </a:pPr>
            <a:r>
              <a:rPr lang="en-US" sz="2200" b="1" dirty="0">
                <a:solidFill>
                  <a:schemeClr val="tx1"/>
                </a:solidFill>
              </a:rPr>
              <a:t>Does it replicate?</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64240" cy="914400"/>
        </p:xfrm>
        <a:graphic>
          <a:graphicData uri="http://schemas.openxmlformats.org/drawingml/2006/table">
            <a:tbl>
              <a:tblPr/>
              <a:tblGrid>
                <a:gridCol w="502920"/>
                <a:gridCol w="5029200"/>
                <a:gridCol w="502920"/>
                <a:gridCol w="5029200"/>
              </a:tblGrid>
              <a:tr h="676656">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Is the metric a ranking metric? Then blend ranks, not raw scores.</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Did I check rank correlation and unique values before paying for every call?</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r>
              <a:tr h="676656">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Did I drop label proxies and mask data recorded after the event?</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Were blend weights fixed on a coarse grid and confirmed on held-out data?</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r>
              <a:tr h="676656">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Does the serialized text carry trajectories and thresholds, not only last values?</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Does the gain beat 2 paired SEs on the gate's sample, and the bar for K tries?</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r>
              <a:tr h="676656">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Is each endpoint asked separately?</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Is the gain no larger than error independence can deliver?</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r>
              <a:tr h="676656">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Is the candidate judged by its gain in the ensemble, not alone?</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algn="ctr" indent="0" marL="0">
                        <a:buNone/>
                      </a:pPr>
                      <a:r>
                        <a:rPr lang="en-US" sz="2200" dirty="0">
                          <a:solidFill>
                            <a:srgbClr val="1F2933"/>
                          </a:solidFill>
                        </a:rPr>
                        <a:t>☐</a:t>
                      </a:r>
                      <a:endParaRPr lang="en-US" sz="22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c>
                  <a:txBody>
                    <a:bodyPr/>
                    <a:lstStyle/>
                    <a:p>
                      <a:pPr indent="0" marL="0">
                        <a:buNone/>
                      </a:pPr>
                      <a:r>
                        <a:rPr lang="en-US" sz="1700" dirty="0">
                          <a:solidFill>
                            <a:srgbClr val="1F2933"/>
                          </a:solidFill>
                        </a:rPr>
                        <a:t>Is every number labelled measured, leaderboard or synthetic?</a:t>
                      </a:r>
                      <a:endParaRPr lang="en-US" sz="1700" dirty="0"/>
                    </a:p>
                  </a:txBody>
                  <a:tcPr marL="109728" marR="109728" marT="45720" marB="45720" anchor="ctr">
                    <a:lnL w="0" cap="flat" cmpd="sng" algn="ctr">
                      <a:noFill/>
                    </a:lnL>
                    <a:lnR w="0" cap="flat" cmpd="sng" algn="ctr">
                      <a:noFill/>
                    </a:lnR>
                    <a:lnT w="0" cap="flat" cmpd="sng" algn="ctr">
                      <a:noFill/>
                    </a:lnT>
                    <a:lnB w="9525" cap="flat" cmpd="sng" algn="ctr">
                      <a:solidFill>
                        <a:srgbClr val="DDE3E9"/>
                      </a:solidFill>
                      <a:prstDash val="solid"/>
                      <a:round/>
                      <a:headEnd type="none" w="med" len="med"/>
                      <a:tailEnd type="none" w="med" len="med"/>
                    </a:lnB>
                  </a:tcPr>
                </a:tc>
              </a:tr>
            </a:tbl>
          </a:graphicData>
        </a:graphic>
      </p:graphicFrame>
      <p:sp>
        <p:nvSpPr>
          <p:cNvPr id="10" name="Text 7"/>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2200" dirty="0">
                <a:solidFill>
                  <a:srgbClr val="6B7785"/>
                </a:solidFill>
              </a:rPr>
              <a:t>Questions or results: </a:t>
            </a:r>
            <a:pPr indent="0" marL="0">
              <a:buNone/>
            </a:pPr>
            <a:r>
              <a:rPr lang="en-US" sz="2200" b="1" dirty="0">
                <a:solidFill>
                  <a:srgbClr val="1F2933"/>
                </a:solidFill>
              </a:rPr>
              <a:t>polleronny2@gmail.com</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Without the leak, XGBoost alone looks better</a:t>
            </a:r>
            <a:endParaRPr lang="en-US" sz="2800" dirty="0"/>
          </a:p>
          <a:p>
            <a:pPr algn="l" indent="0" marL="0">
              <a:buNone/>
            </a:pPr>
            <a:r>
              <a:rPr lang="en-US" sz="2800" b="1" dirty="0">
                <a:solidFill>
                  <a:schemeClr val="tx1"/>
                </a:solidFill>
              </a:rPr>
              <a:t>than the 50/50 blend, but not credibly</a:t>
            </a:r>
            <a:endParaRPr lang="en-US" sz="2800" dirty="0"/>
          </a:p>
        </p:txBody>
      </p:sp>
      <p:graphicFrame>
        <p:nvGraphicFramePr>
          <p:cNvPr id="3" name="Chart 0" descr="XGBoost, CatBoost and the 50/50 blend in the leaky and the window-free CV."/>
          <p:cNvGraphicFramePr/>
          <p:nvPr/>
        </p:nvGraphicFramePr>
        <p:xfrm>
          <a:off x="548640" y="1463040"/>
          <a:ext cx="110642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dirty="0">
                <a:solidFill>
                  <a:schemeClr val="tx2"/>
                </a:solidFill>
              </a:rPr>
              <a:t>Fold mean +0.0155 ± 0.0056 (2.8 SE) clears the bar. The patient bootstrap +0.0103 ± 0.0070 (1.5 SE) does not.</a:t>
            </a:r>
            <a:endParaRPr lang="en-US" sz="1800" dirty="0"/>
          </a:p>
        </p:txBody>
      </p:sp>
      <p:sp>
        <p:nvSpPr>
          <p:cNvPr id="5" name="Text 2"/>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Data: measured cross-validation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51560"/>
          </a:xfrm>
          <a:prstGeom prst="rect">
            <a:avLst/>
          </a:prstGeom>
          <a:noFill/>
          <a:ln/>
        </p:spPr>
        <p:txBody>
          <a:bodyPr wrap="square" lIns="0" tIns="0" rIns="0" bIns="0" rtlCol="0" anchor="t"/>
          <a:lstStyle/>
          <a:p>
            <a:pPr algn="l" indent="0" marL="0">
              <a:buNone/>
            </a:pPr>
            <a:r>
              <a:rPr lang="en-US" sz="2800" b="1" dirty="0">
                <a:solidFill>
                  <a:schemeClr val="tx1"/>
                </a:solidFill>
              </a:rPr>
              <a:t>The same checks apply wherever a strong</a:t>
            </a:r>
            <a:endParaRPr lang="en-US" sz="2800" dirty="0"/>
          </a:p>
          <a:p>
            <a:pPr algn="l" indent="0" marL="0">
              <a:buNone/>
            </a:pPr>
            <a:r>
              <a:rPr lang="en-US" sz="2800" b="1" dirty="0">
                <a:solidFill>
                  <a:schemeClr val="tx1"/>
                </a:solidFill>
              </a:rPr>
              <a:t>base meets a weaker candidate ranker</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651760"/>
                <a:gridCol w="2926080"/>
                <a:gridCol w="3291840"/>
                <a:gridCol w="2194560"/>
              </a:tblGrid>
              <a:tr h="777240">
                <a:tc>
                  <a:txBody>
                    <a:bodyPr/>
                    <a:lstStyle/>
                    <a:p>
                      <a:pPr indent="0" marL="0">
                        <a:buNone/>
                      </a:pPr>
                      <a:r>
                        <a:rPr lang="en-US" sz="1800" b="1" dirty="0">
                          <a:solidFill>
                            <a:srgbClr val="1F2933"/>
                          </a:solidFill>
                        </a:rPr>
                        <a:t>Setting</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c>
                  <a:txBody>
                    <a:bodyPr/>
                    <a:lstStyle/>
                    <a:p>
                      <a:pPr indent="0" marL="0">
                        <a:buNone/>
                      </a:pPr>
                      <a:r>
                        <a:rPr lang="en-US" sz="1800" b="1" dirty="0">
                          <a:solidFill>
                            <a:srgbClr val="1F2933"/>
                          </a:solidFill>
                        </a:rPr>
                        <a:t>Strong base</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c>
                  <a:txBody>
                    <a:bodyPr/>
                    <a:lstStyle/>
                    <a:p>
                      <a:pPr indent="0" marL="0">
                        <a:buNone/>
                      </a:pPr>
                      <a:r>
                        <a:rPr lang="en-US" sz="1800" b="1" dirty="0">
                          <a:solidFill>
                            <a:srgbClr val="1F2933"/>
                          </a:solidFill>
                        </a:rPr>
                        <a:t>Candidate ranker</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c>
                  <a:txBody>
                    <a:bodyPr/>
                    <a:lstStyle/>
                    <a:p>
                      <a:pPr indent="0" marL="0">
                        <a:buNone/>
                      </a:pPr>
                      <a:r>
                        <a:rPr lang="en-US" sz="1800" b="1" dirty="0">
                          <a:solidFill>
                            <a:srgbClr val="1F2933"/>
                          </a:solidFill>
                        </a:rPr>
                        <a:t>Combine by</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DDE3E9"/>
                    </a:solidFill>
                  </a:tcPr>
                </a:tc>
              </a:tr>
              <a:tr h="777240">
                <a:tc>
                  <a:txBody>
                    <a:bodyPr/>
                    <a:lstStyle/>
                    <a:p>
                      <a:pPr indent="0" marL="0">
                        <a:buNone/>
                      </a:pPr>
                      <a:r>
                        <a:rPr lang="en-US" sz="1800" dirty="0">
                          <a:solidFill>
                            <a:srgbClr val="1F2933"/>
                          </a:solidFill>
                        </a:rPr>
                        <a:t>Clinical survival (this talk)</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gradient-boosted AFT</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LLM reading a clinical summary</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rank blend</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r h="777240">
                <a:tc>
                  <a:txBody>
                    <a:bodyPr/>
                    <a:lstStyle/>
                    <a:p>
                      <a:pPr indent="0" marL="0">
                        <a:buNone/>
                      </a:pPr>
                      <a:r>
                        <a:rPr lang="en-US" sz="1800" dirty="0">
                          <a:solidFill>
                            <a:srgbClr val="1F2933"/>
                          </a:solidFill>
                        </a:rPr>
                        <a:t>Credit or churn risk</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boosted trees on tabular data</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LLM over notes or transcripts</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rank blend</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r h="777240">
                <a:tc>
                  <a:txBody>
                    <a:bodyPr/>
                    <a:lstStyle/>
                    <a:p>
                      <a:pPr indent="0" marL="0">
                        <a:buNone/>
                      </a:pPr>
                      <a:r>
                        <a:rPr lang="en-US" sz="1800" dirty="0">
                          <a:solidFill>
                            <a:srgbClr val="1F2933"/>
                          </a:solidFill>
                        </a:rPr>
                        <a:t>Search and retrieval</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a learned ranker</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an LLM relevance judge</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reciprocal rank fusion</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r h="777240">
                <a:tc>
                  <a:txBody>
                    <a:bodyPr/>
                    <a:lstStyle/>
                    <a:p>
                      <a:pPr indent="0" marL="0">
                        <a:buNone/>
                      </a:pPr>
                      <a:r>
                        <a:rPr lang="en-US" sz="1800" dirty="0">
                          <a:solidFill>
                            <a:srgbClr val="1F2933"/>
                          </a:solidFill>
                        </a:rPr>
                        <a:t>Triage and alerting</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rules and thresholds</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an LLM reading free-text reports</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c>
                  <a:txBody>
                    <a:bodyPr/>
                    <a:lstStyle/>
                    <a:p>
                      <a:pPr indent="0" marL="0">
                        <a:buNone/>
                      </a:pPr>
                      <a:r>
                        <a:rPr lang="en-US" sz="1800" dirty="0">
                          <a:solidFill>
                            <a:srgbClr val="1F2933"/>
                          </a:solidFill>
                        </a:rPr>
                        <a:t>ordered escalation</a:t>
                      </a:r>
                      <a:endParaRPr lang="en-US" sz="1800" dirty="0"/>
                    </a:p>
                  </a:txBody>
                  <a:tcPr marL="109728" marR="109728"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tcPr>
                </a:tc>
              </a:tr>
            </a:tbl>
          </a:graphicData>
        </a:graphic>
      </p:graphicFrame>
      <p:sp>
        <p:nvSpPr>
          <p:cNvPr id="4" name="Text 1"/>
          <p:cNvSpPr txBox="1"/>
          <p:nvPr/>
        </p:nvSpPr>
        <p:spPr>
          <a:xfrm>
            <a:off x="548640" y="6419088"/>
            <a:ext cx="5120640" cy="274320"/>
          </a:xfrm>
          <a:prstGeom prst="rect">
            <a:avLst/>
          </a:prstGeom>
          <a:noFill/>
          <a:ln/>
        </p:spPr>
        <p:txBody>
          <a:bodyPr wrap="square" lIns="0" tIns="0" rIns="0" bIns="0" rtlCol="0" anchor="ctr"/>
          <a:lstStyle/>
          <a:p>
            <a:pPr indent="0" marL="0">
              <a:buNone/>
            </a:pPr>
            <a:r>
              <a:rPr lang="en-US" sz="1200" dirty="0">
                <a:solidFill>
                  <a:schemeClr val="tx2"/>
                </a:solidFill>
              </a:rPr>
              <a:t>Schematic</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ANNITIA talk">
  <a:themeElements>
    <a:clrScheme name="ANNITIA talk">
      <a:dk1>
        <a:srgbClr val="1F2933"/>
      </a:dk1>
      <a:lt1>
        <a:srgbClr val="FFFFFF"/>
      </a:lt1>
      <a:dk2>
        <a:srgbClr val="6B7785"/>
      </a:dk2>
      <a:lt2>
        <a:srgbClr val="DDE3E9"/>
      </a:lt2>
      <a:accent1>
        <a:srgbClr val="0072B2"/>
      </a:accent1>
      <a:accent2>
        <a:srgbClr val="D55E00"/>
      </a:accent2>
      <a:accent3>
        <a:srgbClr val="56B4E9"/>
      </a:accent3>
      <a:accent4>
        <a:srgbClr val="E69F00"/>
      </a:accent4>
      <a:accent5>
        <a:srgbClr val="009E73"/>
      </a:accent5>
      <a:accent6>
        <a:srgbClr val="CC79A7"/>
      </a:accent6>
      <a:hlink>
        <a:srgbClr val="0072B2"/>
      </a:hlink>
      <a:folHlink>
        <a:srgbClr val="6B7785"/>
      </a:folHlink>
    </a:clrScheme>
    <a:fontScheme name="ANNITIA tal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Risk Rankers and Agentic Scaffolding for Liver Disease Survival Modeling</dc:title>
  <dc:subject>GAIN Monthly Webinar</dc:subject>
  <dc:creator>Dr. Ronny Polle</dc:creator>
  <cp:lastModifiedBy>Dr. Ronny Polle</cp:lastModifiedBy>
  <cp:revision>1</cp:revision>
  <dcterms:created xsi:type="dcterms:W3CDTF">2026-10-24T02:03:01Z</dcterms:created>
  <dcterms:modified xsi:type="dcterms:W3CDTF">2026-10-24T02:03:01Z</dcterms:modified>
</cp:coreProperties>
</file>